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-1371600"/>
            <a:ext cx="5486400" cy="54864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0320" y="914400"/>
            <a:ext cx="6400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0" b="1" i="0">
                <a:solidFill>
                  <a:srgbClr val="FFFFFF"/>
                </a:solidFill>
                <a:latin typeface="Segoe UI"/>
              </a:rPr>
              <a:t>BHROMON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8600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1">
                <a:solidFill>
                  <a:srgbClr val="D1FAE5"/>
                </a:solidFill>
                <a:latin typeface="Segoe UI"/>
              </a:rPr>
              <a:t>The Community-Driven Travel Intelligence Platform
for Bangladeshi Explorers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3520440"/>
            <a:ext cx="640080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7033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INVESTOR PITCH DECK  ·  PRE-SEED  · 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1605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M. S. Rana  ·  CEO &amp; Product Lead
Izhaan Intellect  ·  Co-Founder &amp; 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9834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mybhromon@gmail.com  ·  01762033445  ·  bhromon.fun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4406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1">
                <a:solidFill>
                  <a:srgbClr val="D1FAE5"/>
                </a:solidFill>
                <a:latin typeface="Segoe UI"/>
              </a:rPr>
              <a:t>"We are not a marketplace. We are the map, the guide, and the trusted companion."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10515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D1FAE5"/>
                </a:solidFill>
                <a:latin typeface="Segoe UI"/>
              </a:rPr>
              <a:t>Why Bangladesh's travel information landscape is broken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148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2148840" cy="5029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📋 Fragmentation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96596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200+ closed FB groups, decade-old blogs.
4–8 hrs research = unreliable results.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234440"/>
            <a:ext cx="2148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234440"/>
            <a:ext cx="2148840" cy="5029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28016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⚠️ Info Asymmetry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828800"/>
            <a:ext cx="196596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CHT rules, road conditions, ferry schedules change with no updates — can be dangerous.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234440"/>
            <a:ext cx="2148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80" y="1234440"/>
            <a:ext cx="2148840" cy="5029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28016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💰 Commercial 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828800"/>
            <a:ext cx="196596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Booking apps rank by commission, not quality. Sponsored posts = fake trust.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234440"/>
            <a:ext cx="2148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1234440"/>
            <a:ext cx="2148840" cy="5029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28016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💨 Ephemeral 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1828800"/>
            <a:ext cx="196596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Local tips, boat guide numbers, trail warnings exist in chats that vanish forever.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1234440"/>
            <a:ext cx="2148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66960" y="1234440"/>
            <a:ext cx="2148840" cy="5029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128016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📵 Offline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28800"/>
            <a:ext cx="196596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Best destinations (Sajek, Sundarbans, CHT) have zero signal. Every app fails there.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F5132"/>
                </a:solidFill>
                <a:latin typeface="Segoe UI"/>
              </a:rPr>
              <a:t>Result: 20M travelers rely on fragmented, unverified, offline-failing information every year.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D1FAE5"/>
                </a:solidFill>
                <a:latin typeface="Segoe UI"/>
              </a:rPr>
              <a:t>Bhromon: Bangladesh's Community-Owned Travel Intelligence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097280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6424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1">
                <a:solidFill>
                  <a:srgbClr val="D1FAE5"/>
                </a:solidFill>
                <a:latin typeface="Segoe UI"/>
              </a:rPr>
              <a:t>"A geospatial knowledge graph — not a booking platform,
not a social network — a living, verified, community-owned
map of everything that is true about travel in Bangladesh."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29000"/>
            <a:ext cx="3566160" cy="30632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356616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🗺️ 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77639"/>
            <a:ext cx="329184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Verified community pins with Trust Scores. Offline-capable map. Color-coded reliability tiers.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429000"/>
            <a:ext cx="3566160" cy="30632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429000"/>
            <a:ext cx="356616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474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📓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977639"/>
            <a:ext cx="329184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Structured TripLogs with route drawing, cost tracking, safety notes. Completeness Gate ensures quality.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429000"/>
            <a:ext cx="3566160" cy="30632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3429000"/>
            <a:ext cx="356616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474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🛡️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977639"/>
            <a:ext cx="329184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Explorer Score system. Self-cleaning Pro-Tips with decay alerts. Community moderation.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10058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HOW IT WORKS — THE CORE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D1FAE5"/>
                </a:solidFill>
                <a:latin typeface="Segoe UI"/>
              </a:rPr>
              <a:t>Every feature strengthens one step. Every step creates more value for the next.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3593592" cy="24231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52728"/>
            <a:ext cx="11887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1
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329184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Open the app, explore the verified map. Find pins, TripLogs, Pro-Tips nearby.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6596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59E0B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143000"/>
            <a:ext cx="3593592" cy="2423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252728"/>
            <a:ext cx="11887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2
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194560"/>
            <a:ext cx="329184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Go on a trip. Record route on map, add costs, photos, safety notes in TripLog editor.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196596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59E0B"/>
                </a:solidFill>
                <a:latin typeface="Segoe U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143000"/>
            <a:ext cx="3593592" cy="2423160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1252728"/>
            <a:ext cx="11887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3
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194560"/>
            <a:ext cx="329184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Community confirms your tips. Others upvote your accuracy. Your score rises.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3593592" cy="24231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0208"/>
            <a:ext cx="11887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4
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92040"/>
            <a:ext cx="329184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Your TripLog goes live. Others download it offline for their own trips.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6634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59E0B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5112" y="3840480"/>
            <a:ext cx="3593592" cy="2423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950208"/>
            <a:ext cx="11887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5
EARN REP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4892040"/>
            <a:ext cx="329184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Explorer Score grows. You unlock new platform privileges and creator tools.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46634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59E0B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3840480"/>
            <a:ext cx="3593592" cy="2423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3950208"/>
            <a:ext cx="11887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6
REPEAT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4892040"/>
            <a:ext cx="329184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Higher reputation → better discovery → more trips → richer content graph.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PRODUCT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D1FAE5"/>
                </a:solidFill>
                <a:latin typeface="Segoe UI"/>
              </a:rPr>
              <a:t>Five pillars that make Bhromon structurally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247120" cy="932688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🗺️  Verified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490472"/>
            <a:ext cx="7498079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MapLibre GL dark theme. GPS trail drawing. Trust-score pin tiers: Grey → Mint → Gold → Green → Amber.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50591"/>
            <a:ext cx="11247120" cy="932688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50591"/>
            <a:ext cx="73152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23744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📓  TripLog 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23744"/>
            <a:ext cx="7498079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Block-based editor: text, images, video, cost diary, GPS route, safety notes. Completeness Gate ensures depth.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83863"/>
            <a:ext cx="11247120" cy="932688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83863"/>
            <a:ext cx="73152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57015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💡  Pro-Tips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557015"/>
            <a:ext cx="7498079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Bite-sized local wisdom with decay timers. Auto-flagged when stale. One-tap community re-validation.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517136"/>
            <a:ext cx="11247120" cy="932688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517136"/>
            <a:ext cx="73152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90288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📦  Offline Vault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590288"/>
            <a:ext cx="7498079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One-tap district download: all pins, TripLogs, tips, photos, OSM tiles. Works at 0% signal in CHT.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550407"/>
            <a:ext cx="11247120" cy="932688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550407"/>
            <a:ext cx="73152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23559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🏆  Trust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623559"/>
            <a:ext cx="7498079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Public Explorer Score formula. 5 trust tiers gate privileges. Anti-gaming pipeline built 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10058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TRUST ENGINE &amp; EXPLORER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D1FAE5"/>
                </a:solidFill>
                <a:latin typeface="Segoe UI"/>
              </a:rPr>
              <a:t>The platform's immune system — fully transparent, publicly auditable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118872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8813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D1FAE5"/>
                </a:solidFill>
                <a:latin typeface="Consolas"/>
              </a:rPr>
              <a:t>Score = (helpfulVotes × 2) + (tripsPublished × freshnessDecay)
          + peerEndorsements − (spamFlags × 5) − (safetyFlags × 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21945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1A1A2E"/>
                </a:solidFill>
                <a:latin typeface="Segoe UI"/>
              </a:rPr>
              <a:t>⬜ UNVERIFIED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2724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2E"/>
                </a:solidFill>
                <a:latin typeface="Segoe UI"/>
              </a:rPr>
              <a:t>Score: 0–49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566160"/>
            <a:ext cx="1920240" cy="91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201168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Post Pro-Tips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468880"/>
            <a:ext cx="2194560" cy="40233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542032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🟢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12724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Score: 50–199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79" y="3566160"/>
            <a:ext cx="1920240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3703320"/>
            <a:ext cx="201168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Publish TripLogs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468880"/>
            <a:ext cx="2194560" cy="40233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9" y="2542032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🏅 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312724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Score: 200–499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3566160"/>
            <a:ext cx="1920240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9" y="3703320"/>
            <a:ext cx="201168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Create Premium Guides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59" y="2468880"/>
            <a:ext cx="2194560" cy="4023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799" y="2542032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1A1A2E"/>
                </a:solidFill>
                <a:latin typeface="Segoe UI"/>
              </a:rPr>
              <a:t>👑 REGION EXPERT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799" y="312724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2E"/>
                </a:solidFill>
                <a:latin typeface="Segoe UI"/>
              </a:rPr>
              <a:t>Score: 500+ &amp; council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19" y="3566160"/>
            <a:ext cx="1920240" cy="91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799" y="3703320"/>
            <a:ext cx="201168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Division moderation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468880"/>
            <a:ext cx="2194560" cy="4023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2542032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🌟 PIONEER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312724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Score: Invite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21240" y="3566160"/>
            <a:ext cx="1920240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19" y="3703320"/>
            <a:ext cx="201168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Founding badge — permanent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0F5132"/>
                </a:solidFill>
                <a:latin typeface="Segoe UI"/>
              </a:rPr>
              <a:t>★  The formula is public in every user's profile. No hidden algorithms. No secret boosts.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86968"/>
            <a:ext cx="1097280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029200" cy="5394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4663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D1FAE5"/>
                </a:solidFill>
                <a:latin typeface="Segoe UI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</a:rPr>
              <a:t>20 MILLION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D1FAE5"/>
                </a:solidFill>
                <a:latin typeface="Segoe UI"/>
              </a:rPr>
              <a:t>Total domestic leisure travelers in
Bangladesh annually (BTRI estimate)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4663440" cy="914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59E0B"/>
                </a:solidFill>
                <a:latin typeface="Segoe UI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Segoe UI"/>
              </a:rPr>
              <a:t>5 MILLION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4663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D1FAE5"/>
                </a:solidFill>
                <a:latin typeface="Segoe UI"/>
              </a:rPr>
              <a:t>Urban mobile-first travelers 18–35
with ≥2 trips/year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166360"/>
            <a:ext cx="4663440" cy="914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59E0B"/>
                </a:solidFill>
                <a:latin typeface="Segoe UI"/>
              </a:rPr>
              <a:t>SOM — YEAR 1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4663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50,000 MAU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051560"/>
            <a:ext cx="6035040" cy="5394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143000"/>
            <a:ext cx="5669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59E0B"/>
                </a:solidFill>
                <a:latin typeface="Segoe UI"/>
              </a:rPr>
              <a:t>MARKET TAILWINDS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645920"/>
            <a:ext cx="56692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D1FAE5"/>
                </a:solidFill>
                <a:latin typeface="Segoe UI"/>
              </a:rPr>
              <a:t>📈  Rising GDP per capita → more discretionary travel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395728"/>
            <a:ext cx="56692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D1FAE5"/>
                </a:solidFill>
                <a:latin typeface="Segoe UI"/>
              </a:rPr>
              <a:t>📱  60%+ smartphone penetration in 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145536"/>
            <a:ext cx="56692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D1FAE5"/>
                </a:solidFill>
                <a:latin typeface="Segoe UI"/>
              </a:rPr>
              <a:t>🎓  Gen Z &amp; millennial travel culture maturing fast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895344"/>
            <a:ext cx="56692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D1FAE5"/>
                </a:solidFill>
                <a:latin typeface="Segoe UI"/>
              </a:rPr>
              <a:t>🏛️  Government investing in CHT &amp; Sundarbans tourism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45152"/>
            <a:ext cx="56692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D1FAE5"/>
                </a:solidFill>
                <a:latin typeface="Segoe UI"/>
              </a:rPr>
              <a:t>💻  'Workation' culture driving longer domestic trips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394959"/>
            <a:ext cx="56692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D1FAE5"/>
                </a:solidFill>
                <a:latin typeface="Segoe UI"/>
              </a:rPr>
              <a:t>🏆  Zero structured competitor in this exact niche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10058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WHO WE SERVE — TARGET PERSONAS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74320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743200" cy="6400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2560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🎒 Shefali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1FAE5"/>
                </a:solidFill>
                <a:latin typeface="Segoe UI"/>
              </a:rPr>
              <a:t>Modern Explorer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6B7280"/>
                </a:solidFill>
                <a:latin typeface="Segoe UI"/>
              </a:rPr>
              <a:t>Age 21 · DU Student · Mirpur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12848"/>
            <a:ext cx="2560320" cy="914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F5132"/>
                </a:solidFill>
                <a:latin typeface="Segoe UI"/>
              </a:rPr>
              <a:t>PAIN POINTS: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33472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3–4 trips/year, BDT 3–8K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63824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Off-beat: Sajek, Tanguar Haor, Birishiri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94176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Spends 6+ hrs on FB groups pre-trip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24527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Ripped off by CNG drivers, lost trail from 2018 blog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00600"/>
            <a:ext cx="256032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89204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1">
                <a:solidFill>
                  <a:srgbClr val="0F5132"/>
                </a:solidFill>
                <a:latin typeface="Segoe UI"/>
              </a:rPr>
              <a:t>Wants: fast, verified, offline-ready info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097280"/>
            <a:ext cx="274320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097280"/>
            <a:ext cx="2743200" cy="6400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1143000"/>
            <a:ext cx="2560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📸 Arif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1481328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1FAE5"/>
                </a:solidFill>
                <a:latin typeface="Segoe UI"/>
              </a:rPr>
              <a:t>Content Creator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1828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6B7280"/>
                </a:solidFill>
                <a:latin typeface="Segoe UI"/>
              </a:rPr>
              <a:t>Age 26 · Freelancer · Chittagong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2212848"/>
            <a:ext cx="2560320" cy="914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23042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F5132"/>
                </a:solidFill>
                <a:latin typeface="Segoe UI"/>
              </a:rPr>
              <a:t>PAIN POINTS: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2633472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Monthly destination travel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163824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Builds following on YouTube &amp; 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694176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Needs structured content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224527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Frustrated by lack of monetization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4800600"/>
            <a:ext cx="256032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489204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1">
                <a:solidFill>
                  <a:srgbClr val="0F5132"/>
                </a:solidFill>
                <a:latin typeface="Segoe UI"/>
              </a:rPr>
              <a:t>Wants: a platform where content earns reputation + income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097280"/>
            <a:ext cx="274320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1097280"/>
            <a:ext cx="2743200" cy="6400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1143000"/>
            <a:ext cx="2560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🏠 Salma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1481328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1FAE5"/>
                </a:solidFill>
                <a:latin typeface="Segoe UI"/>
              </a:rPr>
              <a:t>Family Planner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1828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6B7280"/>
                </a:solidFill>
                <a:latin typeface="Segoe UI"/>
              </a:rPr>
              <a:t>Age 34 · Teacher · Sylhet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2212848"/>
            <a:ext cx="2560320" cy="914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23042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F5132"/>
                </a:solidFill>
                <a:latin typeface="Segoe UI"/>
              </a:rPr>
              <a:t>PAIN POINTS: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2633472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1–2 family trips/year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163824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Safety &amp; reliability are non-negotiable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3694176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Deep distrust of online ads &amp; paid reviews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224527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Needs child-safe and accessibility info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4800600"/>
            <a:ext cx="256032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489204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1">
                <a:solidFill>
                  <a:srgbClr val="0F5132"/>
                </a:solidFill>
                <a:latin typeface="Segoe UI"/>
              </a:rPr>
              <a:t>Wants: trustworthy, family-appropriate verified content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1097280"/>
            <a:ext cx="274320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89720" y="1097280"/>
            <a:ext cx="2743200" cy="6400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0" y="1143000"/>
            <a:ext cx="2560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🌿 Rafiq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1481328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1FAE5"/>
                </a:solidFill>
                <a:latin typeface="Segoe UI"/>
              </a:rPr>
              <a:t>Local Guide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1828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6B7280"/>
                </a:solidFill>
                <a:latin typeface="Segoe UI"/>
              </a:rPr>
              <a:t>Age 29 · CHT village · Rangamati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81160" y="2212848"/>
            <a:ext cx="2560320" cy="914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23042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F5132"/>
                </a:solidFill>
                <a:latin typeface="Segoe UI"/>
              </a:rPr>
              <a:t>PAIN POINTS: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2633472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Knows every trail, seasonal route, boat contact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3163824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No platform to share this knowledge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3694176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Local economy depends on responsible tourism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4224527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• Wants recognition for expertise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81160" y="4800600"/>
            <a:ext cx="256032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89204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1">
                <a:solidFill>
                  <a:srgbClr val="0F5132"/>
                </a:solidFill>
                <a:latin typeface="Segoe UI"/>
              </a:rPr>
              <a:t>Wants: a platform that values and preserves local wisdom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D1FAE5"/>
                </a:solidFill>
                <a:latin typeface="Segoe UI"/>
              </a:rPr>
              <a:t>No one is doing what we are doing. Here's why.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97280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429000" cy="5760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08760"/>
            <a:ext cx="32918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D1FAE5"/>
                </a:solidFill>
                <a:latin typeface="Segoe UI"/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417320"/>
            <a:ext cx="1645920" cy="5760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9352" y="1508760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D1FAE5"/>
                </a:solidFill>
                <a:latin typeface="Segoe UI"/>
              </a:rPr>
              <a:t>Facebook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417320"/>
            <a:ext cx="1645920" cy="5760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96712" y="1508760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D1FAE5"/>
                </a:solidFill>
                <a:latin typeface="Segoe UI"/>
              </a:rPr>
              <a:t>TripAdvisor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417320"/>
            <a:ext cx="1645920" cy="5760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508760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D1FAE5"/>
                </a:solidFill>
                <a:latin typeface="Segoe UI"/>
              </a:rPr>
              <a:t>Google Maps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417320"/>
            <a:ext cx="3154680" cy="5760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50876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BHROMON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93392"/>
            <a:ext cx="342900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084832"/>
            <a:ext cx="32918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Offline functionality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1993392"/>
            <a:ext cx="164592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084832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None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993392"/>
            <a:ext cx="164592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96712" y="2084832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None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993392"/>
            <a:ext cx="164592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34072" y="2084832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Partial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993392"/>
            <a:ext cx="3154680" cy="548640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2084832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9E0B"/>
                </a:solidFill>
                <a:latin typeface="Segoe UI"/>
              </a:rPr>
              <a:t>✓ Full — tiles + content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569464"/>
            <a:ext cx="342900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2660904"/>
            <a:ext cx="32918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Content freshness tracking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2569464"/>
            <a:ext cx="164592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9352" y="2660904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None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2569464"/>
            <a:ext cx="164592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96712" y="2660904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None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2569464"/>
            <a:ext cx="164592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34072" y="2660904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2569464"/>
            <a:ext cx="3154680" cy="548640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71432" y="2660904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9E0B"/>
                </a:solidFill>
                <a:latin typeface="Segoe UI"/>
              </a:rPr>
              <a:t>✓ Decay system built-in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145536"/>
            <a:ext cx="342900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236976"/>
            <a:ext cx="32918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Trust scoring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3145536"/>
            <a:ext cx="164592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59352" y="3236976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None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3145536"/>
            <a:ext cx="164592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96712" y="3236976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★ Stars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60920" y="3145536"/>
            <a:ext cx="164592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34072" y="3236976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★ Stars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3145536"/>
            <a:ext cx="3154680" cy="548640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71432" y="3236976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9E0B"/>
                </a:solidFill>
                <a:latin typeface="Segoe UI"/>
              </a:rPr>
              <a:t>✓ Public formula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721608"/>
            <a:ext cx="342900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3813048"/>
            <a:ext cx="32918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Searchable content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86200" y="3721608"/>
            <a:ext cx="164592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59352" y="3813048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Closed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23560" y="3721608"/>
            <a:ext cx="164592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96712" y="3813048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✓ 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60920" y="3721608"/>
            <a:ext cx="164592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34072" y="3813048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✓ Yes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3721608"/>
            <a:ext cx="3154680" cy="548640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71432" y="3813048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9E0B"/>
                </a:solidFill>
                <a:latin typeface="Segoe UI"/>
              </a:rPr>
              <a:t>✓ + structure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297680"/>
            <a:ext cx="342900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" y="4389120"/>
            <a:ext cx="32918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Bangladesh-specific design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86200" y="4297680"/>
            <a:ext cx="164592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59352" y="4389120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Partial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23560" y="4297680"/>
            <a:ext cx="164592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96712" y="4389120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Generic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60920" y="4297680"/>
            <a:ext cx="164592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34072" y="4389120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Generic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98280" y="4297680"/>
            <a:ext cx="3154680" cy="548640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71432" y="438912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9E0B"/>
                </a:solidFill>
                <a:latin typeface="Segoe UI"/>
              </a:rPr>
              <a:t>✓ CHT, haors, hill tracts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873752"/>
            <a:ext cx="342900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912" y="4965192"/>
            <a:ext cx="32918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Local knowledge preservation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86200" y="4873752"/>
            <a:ext cx="164592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59352" y="4965192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Vanishes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23560" y="4873752"/>
            <a:ext cx="164592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96712" y="4965192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None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60920" y="4873752"/>
            <a:ext cx="164592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34072" y="4965192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None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98280" y="4873752"/>
            <a:ext cx="3154680" cy="548640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71432" y="4965192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9E0B"/>
                </a:solidFill>
                <a:latin typeface="Segoe UI"/>
              </a:rPr>
              <a:t>✓ Permanent, structured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449824"/>
            <a:ext cx="342900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8912" y="5541264"/>
            <a:ext cx="32918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No booking commissions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86200" y="5449824"/>
            <a:ext cx="164592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59352" y="5541264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23560" y="5449824"/>
            <a:ext cx="164592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96712" y="5541264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 Core biz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60920" y="5449824"/>
            <a:ext cx="164592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34072" y="5541264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98280" y="5449824"/>
            <a:ext cx="3154680" cy="548640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71432" y="5541264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9E0B"/>
                </a:solidFill>
                <a:latin typeface="Segoe UI"/>
              </a:rPr>
              <a:t>✓ Guaranteed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6025896"/>
            <a:ext cx="342900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8912" y="6117336"/>
            <a:ext cx="32918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Creator economy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86200" y="6025896"/>
            <a:ext cx="164592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959352" y="6117336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23560" y="6025896"/>
            <a:ext cx="164592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696712" y="6117336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360920" y="6025896"/>
            <a:ext cx="1645920" cy="5486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34072" y="6117336"/>
            <a:ext cx="1508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1FAE5"/>
                </a:solidFill>
                <a:latin typeface="Segoe UI"/>
              </a:rPr>
              <a:t>✗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98280" y="6025896"/>
            <a:ext cx="3154680" cy="548640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71432" y="6117336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9E0B"/>
                </a:solidFill>
                <a:latin typeface="Segoe UI"/>
              </a:rPr>
              <a:t>✓ Explorer Score + guides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10058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D1FAE5"/>
                </a:solidFill>
                <a:latin typeface="Segoe UI"/>
              </a:rPr>
              <a:t>Zero banner ads. Zero booking commissions. Four clean revenue streams.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78892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2788920" cy="3474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FREE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F5132"/>
                </a:solidFill>
                <a:latin typeface="Segoe UI"/>
              </a:rPr>
              <a:t>Community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2606040" cy="9144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All TripLogs, Pro-Tips, basic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Limited offline vault (1 district)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1480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Explorer Score &amp; community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2064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Free forever — builds network effects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097280"/>
            <a:ext cx="278892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097280"/>
            <a:ext cx="2788920" cy="3474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11556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B2B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481328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F5132"/>
                </a:solidFill>
                <a:latin typeface="Segoe UI"/>
              </a:rPr>
              <a:t>Partner Picks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1965960"/>
            <a:ext cx="2606040" cy="914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10312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Eco-resorts, tour operators, gear shops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10896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BDT 2,000–8,000/month listing fee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11480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30-day free trial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12064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Year 1 target: BDT 40,000/month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097280"/>
            <a:ext cx="278892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097280"/>
            <a:ext cx="2788920" cy="347472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11556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B2C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481328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F5132"/>
                </a:solidFill>
                <a:latin typeface="Segoe UI"/>
              </a:rPr>
              <a:t>Premium Guides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1965960"/>
            <a:ext cx="2606040" cy="9144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10312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Creator marketplace — 20% platform fee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10896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BDT 99–999 per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11480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Eligibility: Verified tier (score ≥ 200)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12064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bKash, Nagad, VISA accepted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1097280"/>
            <a:ext cx="278892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1097280"/>
            <a:ext cx="2788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111556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B2G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1481328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F5132"/>
                </a:solidFill>
                <a:latin typeface="Segoe UI"/>
              </a:rPr>
              <a:t>Regional Grants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1965960"/>
            <a:ext cx="260604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210312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Bangladesh Tourism Board contracts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310896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BDT 2.5L–5L per featured region/year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11480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Custom map layer + analytics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5120640"/>
            <a:ext cx="2606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Year 1: 1 pilot (CHT or Sundarbans)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REVENUE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097280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977640" cy="8046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3840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59E0B"/>
                </a:solidFill>
                <a:latin typeface="Segoe UI"/>
              </a:rPr>
              <a:t>Revenue 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2286000" cy="8046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353312"/>
            <a:ext cx="214883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59E0B"/>
                </a:solidFill>
                <a:latin typeface="Segoe UI"/>
              </a:rPr>
              <a:t>Year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188720"/>
            <a:ext cx="2286000" cy="8046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353312"/>
            <a:ext cx="214883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59E0B"/>
                </a:solidFill>
                <a:latin typeface="Segoe UI"/>
              </a:rPr>
              <a:t>Year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188720"/>
            <a:ext cx="2560320" cy="8046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353312"/>
            <a:ext cx="2423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59E0B"/>
                </a:solidFill>
                <a:latin typeface="Segoe UI"/>
              </a:rPr>
              <a:t>Year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3977640" cy="80467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67712"/>
            <a:ext cx="3840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D1FAE5"/>
                </a:solidFill>
                <a:latin typeface="Segoe UI"/>
              </a:rPr>
              <a:t>Partner Picks (B2B)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03120"/>
            <a:ext cx="2286000" cy="80467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267712"/>
            <a:ext cx="214883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D1FAE5"/>
                </a:solidFill>
                <a:latin typeface="Segoe UI"/>
              </a:rPr>
              <a:t>$5,000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103120"/>
            <a:ext cx="2286000" cy="80467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2267712"/>
            <a:ext cx="214883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D1FAE5"/>
                </a:solidFill>
                <a:latin typeface="Segoe UI"/>
              </a:rPr>
              <a:t>$25,000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2103120"/>
            <a:ext cx="2560320" cy="80467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267712"/>
            <a:ext cx="2423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D1FAE5"/>
                </a:solidFill>
                <a:latin typeface="Segoe UI"/>
              </a:rPr>
              <a:t>$80,000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17520"/>
            <a:ext cx="3977640" cy="8046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182112"/>
            <a:ext cx="3840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D1FAE5"/>
                </a:solidFill>
                <a:latin typeface="Segoe UI"/>
              </a:rPr>
              <a:t>Premium Guides (B2C)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017520"/>
            <a:ext cx="2286000" cy="8046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182112"/>
            <a:ext cx="214883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D1FAE5"/>
                </a:solidFill>
                <a:latin typeface="Segoe UI"/>
              </a:rPr>
              <a:t>$2,000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5160" y="3017520"/>
            <a:ext cx="2286000" cy="8046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182112"/>
            <a:ext cx="214883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D1FAE5"/>
                </a:solidFill>
                <a:latin typeface="Segoe UI"/>
              </a:rPr>
              <a:t>$15,000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3017520"/>
            <a:ext cx="2560320" cy="8046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3182112"/>
            <a:ext cx="2423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D1FAE5"/>
                </a:solidFill>
                <a:latin typeface="Segoe UI"/>
              </a:rPr>
              <a:t>$50,000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31920"/>
            <a:ext cx="3977640" cy="80467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96511"/>
            <a:ext cx="3840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D1FAE5"/>
                </a:solidFill>
                <a:latin typeface="Segoe UI"/>
              </a:rPr>
              <a:t>Regional Grants (B2G)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931920"/>
            <a:ext cx="2286000" cy="80467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4096511"/>
            <a:ext cx="214883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D1FAE5"/>
                </a:solidFill>
                <a:latin typeface="Segoe UI"/>
              </a:rPr>
              <a:t>$3,000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60" y="3931920"/>
            <a:ext cx="2286000" cy="80467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4096511"/>
            <a:ext cx="214883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D1FAE5"/>
                </a:solidFill>
                <a:latin typeface="Segoe UI"/>
              </a:rPr>
              <a:t>$15,000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3931920"/>
            <a:ext cx="2560320" cy="80467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4096511"/>
            <a:ext cx="2423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D1FAE5"/>
                </a:solidFill>
                <a:latin typeface="Segoe UI"/>
              </a:rPr>
              <a:t>$40,000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846320"/>
            <a:ext cx="3977640" cy="8046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010912"/>
            <a:ext cx="3840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846320"/>
            <a:ext cx="2286000" cy="8046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010912"/>
            <a:ext cx="214883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$10,000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4846320"/>
            <a:ext cx="2286000" cy="8046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6600" y="5010912"/>
            <a:ext cx="214883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$55,000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4846320"/>
            <a:ext cx="2560320" cy="8046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5010912"/>
            <a:ext cx="2423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$170,000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97880"/>
            <a:ext cx="2743200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943600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D1FAE5"/>
                </a:solidFill>
                <a:latin typeface="Segoe UI"/>
              </a:rPr>
              <a:t>CAC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181344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59E0B"/>
                </a:solidFill>
                <a:latin typeface="Segoe UI"/>
              </a:rPr>
              <a:t>$0.80 / MAU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5897880"/>
            <a:ext cx="2743200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5943600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D1FAE5"/>
                </a:solidFill>
                <a:latin typeface="Segoe UI"/>
              </a:rPr>
              <a:t>LTV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" y="6181344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59E0B"/>
                </a:solidFill>
                <a:latin typeface="Segoe UI"/>
              </a:rPr>
              <a:t>$1.50 / MAU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5897880"/>
            <a:ext cx="2743200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943600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D1FAE5"/>
                </a:solidFill>
                <a:latin typeface="Segoe UI"/>
              </a:rPr>
              <a:t>LTV:CAC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6181344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59E0B"/>
                </a:solidFill>
                <a:latin typeface="Segoe UI"/>
              </a:rPr>
              <a:t>~1.9×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5897880"/>
            <a:ext cx="2743200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5943600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D1FAE5"/>
                </a:solidFill>
                <a:latin typeface="Segoe UI"/>
              </a:rPr>
              <a:t>Break-even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6181344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59E0B"/>
                </a:solidFill>
                <a:latin typeface="Segoe UI"/>
              </a:rPr>
              <a:t>Year 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10058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GO-TO-MARKET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D1FAE5"/>
                </a:solidFill>
                <a:latin typeface="Segoe UI"/>
              </a:rPr>
              <a:t>Supply-first approach: 300 TripLogs seeded before a single public user signs 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278892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2788920" cy="6858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26060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Phase –2
NOW → Month 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Launch 'Bhromon Insiders' private FB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54096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Outreach to 80+ travel bloggers &amp; photographers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87952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LinkedIn thought leadership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21808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Build 2,000-person waitlist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143000"/>
            <a:ext cx="278892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143000"/>
            <a:ext cx="2788920" cy="6858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188720"/>
            <a:ext cx="26060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Phase –1
Month –4 → Month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20240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Recruit 30 Founding Explorers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054096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Seed 300 TripLogs + 750 Pro-Tips (private beta)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187952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University Ambassador program: 15 campuses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321808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Press outreach: Prothom Alo, Daily Star, YouthOP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143000"/>
            <a:ext cx="278892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143000"/>
            <a:ext cx="2788920" cy="685800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188720"/>
            <a:ext cx="26060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Phase 1
Public Beta (Month 1–2)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920240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Invite-only 7-day FOMO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54096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Coordinated 30-Explorer simultaneous reveal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187952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'Hidden BD' Instagram Reels series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321808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Product Hunt launch for international visibility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143000"/>
            <a:ext cx="278892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1143000"/>
            <a:ext cx="2788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188720"/>
            <a:ext cx="26060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Phase 2
Growth (Month 3–5)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1920240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10,000 MAU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054096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2,000 user-generated TripLogs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187952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First B2B partner sign-ups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5321808"/>
            <a:ext cx="2606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University competition: 'Best Campus Explorer'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86968"/>
            <a:ext cx="1097280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788920" cy="53492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788920" cy="5486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2606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📱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2606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F59E0B"/>
                </a:solidFill>
                <a:latin typeface="Segoe UI"/>
              </a:rPr>
              <a:t>Flutter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Dart + flutter_bloc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44368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Hive (offline 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59935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MapLibre GL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75504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Riverpod 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143000"/>
            <a:ext cx="2788920" cy="53492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143000"/>
            <a:ext cx="2788920" cy="5486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188720"/>
            <a:ext cx="2606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☁️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481328"/>
            <a:ext cx="2606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F59E0B"/>
                </a:solidFill>
                <a:latin typeface="Segoe UI"/>
              </a:rPr>
              <a:t>Firebase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1828800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Cloud Firestore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944368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Cloud Functions (Go)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059935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Firebase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5175504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Firebase Storage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143000"/>
            <a:ext cx="2788920" cy="53492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143000"/>
            <a:ext cx="2788920" cy="5486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188720"/>
            <a:ext cx="2606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🗺️ Maps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481328"/>
            <a:ext cx="2606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F59E0B"/>
                </a:solidFill>
                <a:latin typeface="Segoe UI"/>
              </a:rPr>
              <a:t>OpenStreetMap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828800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MapLibre GL tiles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944368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Custom BD tile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59935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Offline tile cache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175504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GPS polyline engine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1143000"/>
            <a:ext cx="2788920" cy="53492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1143000"/>
            <a:ext cx="2788920" cy="5486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1188720"/>
            <a:ext cx="2606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🔔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1481328"/>
            <a:ext cx="2606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F59E0B"/>
                </a:solidFill>
                <a:latin typeface="Segoe UI"/>
              </a:rPr>
              <a:t>GCP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1828800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Pub/Sub scheduling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944368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FCM push 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059935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Crashlytics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5175504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1FAE5"/>
                </a:solidFill>
                <a:latin typeface="Segoe UI"/>
              </a:rPr>
              <a:t>→  Cloud Scheduler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D1FAE5"/>
                </a:solidFill>
                <a:latin typeface="Segoe UI"/>
              </a:rPr>
              <a:t>Infrastructure cost: ~$1.11/month at 10K MAU  ·  Scales linearly. No lock-in.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10058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OFFLINE-FIRST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D1FAE5"/>
                </a:solidFill>
                <a:latin typeface="Segoe UI"/>
              </a:rPr>
              <a:t>Signal = privilege, not a prerequisite. Full functionality at 0% connectivity.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949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ONE-TAP DISTRICT DOWNLOAD INCLUDES: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55648"/>
            <a:ext cx="5120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📍  All LocationPins in district bounding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41448"/>
            <a:ext cx="5120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📓  Full TripLog content (all blocks + images)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27248"/>
            <a:ext cx="5120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💡  All Pro-Tips for every 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13048"/>
            <a:ext cx="5120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🖼️  Pre-compressed images (max 800px, JPEG 80%)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98848"/>
            <a:ext cx="5120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🗺️  OSM tile cache (zoom 10–16, ~50 MB/district)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84648"/>
            <a:ext cx="5120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🔄  Offline writes queue to Hive outbox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70448"/>
            <a:ext cx="5120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⚡  Auto 3-way merge on reconnect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5577840" cy="5394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5577840" cy="4572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23444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WHY THIS IS A MOAT: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82880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59E0B"/>
                </a:solidFill>
                <a:latin typeface="Segoe UI"/>
              </a:rPr>
              <a:t>✓ No competitor has done this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212848"/>
            <a:ext cx="5303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Every existing app — TripAdvisor, Google Maps, BD travel apps — fails completely in CHT, Sajek, Sundarbans.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38328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59E0B"/>
                </a:solidFill>
                <a:latin typeface="Segoe UI"/>
              </a:rPr>
              <a:t>✓ The destinations that need it most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767328"/>
            <a:ext cx="5303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Nilgiri, Sajek Valley, Tanguar Haor, Lawachara — Bangladesh's most spectacular places — have zero or minimal 4G signal.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93776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59E0B"/>
                </a:solidFill>
                <a:latin typeface="Segoe UI"/>
              </a:rPr>
              <a:t>✓ Technical moat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321808"/>
            <a:ext cx="5303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Building offline-first with conflict resolution, CRDT-style merging, and Hive is a non-trivial engineering investment that competitors won't easily replicate.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DEVELOPMENT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097280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2788920" cy="54864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2788920" cy="9144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188720"/>
            <a:ext cx="257860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PHASE 1
Month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783080"/>
            <a:ext cx="25786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D1FAE5"/>
                </a:solidFill>
                <a:latin typeface="Segoe UI"/>
              </a:rPr>
              <a:t>Core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148840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Verified Map with trust-score pins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035808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TripLog editor (all block types)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3922776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Explorer Score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4809744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Offline Vault v1 (1 district)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5696712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Founding Explorer onboarding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143000"/>
            <a:ext cx="2788920" cy="54864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143000"/>
            <a:ext cx="2788920" cy="9144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1188720"/>
            <a:ext cx="257860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PHASE 2
Month 4–6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1783080"/>
            <a:ext cx="25786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D1FAE5"/>
                </a:solidFill>
                <a:latin typeface="Segoe UI"/>
              </a:rPr>
              <a:t>Community &amp;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148840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Pro-Tips Engine + decay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035808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Community voting &amp; flagging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3922776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Pioneer badge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4809744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University Ambassador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5696712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Public beta launch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143000"/>
            <a:ext cx="2788920" cy="54864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143000"/>
            <a:ext cx="2788920" cy="914400"/>
          </a:xfrm>
          <a:prstGeom prst="rect">
            <a:avLst/>
          </a:prstGeom>
          <a:solidFill>
            <a:srgbClr val="06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1188720"/>
            <a:ext cx="257860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PHASE 3
Month 7–9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1783080"/>
            <a:ext cx="25786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D1FAE5"/>
                </a:solidFill>
                <a:latin typeface="Segoe UI"/>
              </a:rPr>
              <a:t>Monetization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148840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Premium Guide 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035808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bKash/Nagad payment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922776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Partner Picks B2B portal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809744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Regional Board pilot (CHT)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5696712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Analytics 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1143000"/>
            <a:ext cx="2788920" cy="54864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1143000"/>
            <a:ext cx="278892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9448" y="1188720"/>
            <a:ext cx="257860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PHASE 4
Month 10–12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1783080"/>
            <a:ext cx="25786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1A1A2E"/>
                </a:solidFill>
                <a:latin typeface="Segoe UI"/>
              </a:rPr>
              <a:t>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2148840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All 8 divisions covered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3035808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AI trip planning assistant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3922776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Social features (following/feed)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4809744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Affiliate booking deep-links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5696712"/>
            <a:ext cx="257860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• Year 1 break-even review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28816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Month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64408" y="6528816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Month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71616" y="6528816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Month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78824" y="6528816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Month 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86032" y="6528816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Month 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10058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FOUNDING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94960" cy="5486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M. S. RANA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81912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D1FAE5"/>
                </a:solidFill>
                <a:latin typeface="Segoe UI"/>
              </a:rPr>
              <a:t>CEO &amp; Product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5132"/>
                </a:solidFill>
                <a:latin typeface="Segoe UI"/>
              </a:rPr>
              <a:t>Responsibilities: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6771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Platform vision, strategy &amp; long-term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Fundraising &amp; investor relations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5643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Partnership development &amp; BD Tourism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50791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Product design &amp; UX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4515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Community building &amp; founding explorer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3951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Marketing, press &amp; public narrative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188720"/>
            <a:ext cx="53949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188720"/>
            <a:ext cx="5394960" cy="5486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23444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IZHAAN INTELLECT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581912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D1FAE5"/>
                </a:solidFill>
                <a:latin typeface="Segoe UI"/>
              </a:rPr>
              <a:t>Co-Founder &amp; 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202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5132"/>
                </a:solidFill>
                <a:latin typeface="Segoe UI"/>
              </a:rPr>
              <a:t>Responsibilities: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26771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Flutter mobile architecture &amp; offline-first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6207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Firebase Firestore schema &amp; Cloud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45643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MapLibre GL map engine &amp; offline tile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50791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CI/CD pipeline &amp; OTA deployment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4515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Security architecture &amp; Firestore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3951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• Infrastructure scaling &amp; cost optimization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9672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1FAE5"/>
                </a:solidFill>
                <a:latin typeface="Segoe UI"/>
              </a:rPr>
              <a:t>Year 1 Hires: Community Manager (Month 3) · Backend Engineer (Month 5) · BD Content Moderator (Month 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RISK ANALYSIS &amp;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097280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721608" cy="25146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7"/>
            <a:ext cx="351129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59E0B"/>
                </a:solidFill>
                <a:latin typeface="Segoe UI"/>
              </a:rPr>
              <a:t>🔴 Cold 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18488"/>
            <a:ext cx="3511296" cy="914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3511296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Content-first strategy: 300 TripLogs seeded before public launch. Founding Explorer program supplies quality supply on Day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3721608" cy="25146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904488"/>
            <a:ext cx="351129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59E0B"/>
                </a:solidFill>
                <a:latin typeface="Segoe UI"/>
              </a:rPr>
              <a:t>🟡 Low Digital Payment Adoption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315968"/>
            <a:ext cx="3511296" cy="914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434840"/>
            <a:ext cx="3511296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Multiple payment methods: bKash, Nagad, Rocket, VISA. Micro-pricing (BDT 99) lowers barrier. B2B revenue de-risks B2C dependence.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1097280"/>
            <a:ext cx="3721608" cy="25146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1207007"/>
            <a:ext cx="351129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59E0B"/>
                </a:solidFill>
                <a:latin typeface="Segoe UI"/>
              </a:rPr>
              <a:t>🟡 CHT Content Sensitivity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71416" y="1618488"/>
            <a:ext cx="3511296" cy="914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1737360"/>
            <a:ext cx="3511296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No direct political commentary. Platform = factual travel data only. Legal review protocol for all CHT content. Founder-level moderation on launch.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3794760"/>
            <a:ext cx="3721608" cy="25146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1416" y="3904488"/>
            <a:ext cx="351129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59E0B"/>
                </a:solidFill>
                <a:latin typeface="Segoe UI"/>
              </a:rPr>
              <a:t>🟡 Bengali Moderation at 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71416" y="4315968"/>
            <a:ext cx="3511296" cy="914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4434840"/>
            <a:ext cx="3511296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Hired BD-specific moderators Month 4. AI pre-screening for keyword flags. Community reporting with fast-path escalation.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6175" y="1097280"/>
            <a:ext cx="3721608" cy="25146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3" y="1207007"/>
            <a:ext cx="351129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59E0B"/>
                </a:solidFill>
                <a:latin typeface="Segoe UI"/>
              </a:rPr>
              <a:t>🟢 Competitor Entry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75903" y="1618488"/>
            <a:ext cx="3511296" cy="914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5903" y="1737360"/>
            <a:ext cx="3511296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12-month head start with seeded content creates defensible network effect. Offline vault + offline-first = technical moat no newcomer replicates quickly.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6175" y="3794760"/>
            <a:ext cx="3721608" cy="25146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3" y="3904488"/>
            <a:ext cx="351129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F59E0B"/>
                </a:solidFill>
                <a:latin typeface="Segoe UI"/>
              </a:rPr>
              <a:t>🟢 Monetization Friction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75903" y="4315968"/>
            <a:ext cx="3511296" cy="914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3" y="4434840"/>
            <a:ext cx="3511296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B2B revenue (Partner Picks) provides stable baseline before B2C matures. Regional Board grants provide non-commercial revenue alternative.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10058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SOCIAL IMPACT &amp;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D1FAE5"/>
                </a:solidFill>
                <a:latin typeface="Segoe UI"/>
              </a:rPr>
              <a:t>Bhromon is designed to create impact beyond financial returns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669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73152" cy="17373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53492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0F5132"/>
                </a:solidFill>
                <a:latin typeface="Segoe UI"/>
              </a:rPr>
              <a:t>🌿 Preserving Local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534924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Village elders, local guides, and seasonal boat operators hold irreplaceable knowledge. Bhromon creates permanent, searchable, attributed records — before it's lost forever.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669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73152" cy="17373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234440"/>
            <a:ext cx="53492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0F5132"/>
                </a:solidFill>
                <a:latin typeface="Segoe UI"/>
              </a:rPr>
              <a:t>💰 Economic Uplift for Local Economies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45920"/>
            <a:ext cx="534924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Verified local guides, eco-resorts, and responsible operators get direct digital visibility — bypassing the middlemen and booking commissions that extract value from communities.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5669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73152" cy="17373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08960"/>
            <a:ext cx="53492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0F5132"/>
                </a:solidFill>
                <a:latin typeface="Segoe UI"/>
              </a:rPr>
              <a:t>🛡️ Traveler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20439"/>
            <a:ext cx="534924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Real-time crowdsourced safety flags for road conditions, flood zones, unstable bridges, and security incidents — information that could prevent injuries and save lives.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017520"/>
            <a:ext cx="5669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017520"/>
            <a:ext cx="73152" cy="17373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53492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0F5132"/>
                </a:solidFill>
                <a:latin typeface="Segoe UI"/>
              </a:rPr>
              <a:t>🏫 Youth Employment &amp; Entrepreneurship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20439"/>
            <a:ext cx="534924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University Ambassador program and Premium Guide marketplace create income opportunities for young Bangladeshis who monetize local expertise.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92040"/>
            <a:ext cx="5669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73152" cy="17373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983479"/>
            <a:ext cx="53492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0F5132"/>
                </a:solidFill>
                <a:latin typeface="Segoe UI"/>
              </a:rPr>
              <a:t>📊 Tourism Data for 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94959"/>
            <a:ext cx="534924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Aggregated, anonymized traveler behavior data helps Bangladesh Tourism Board make evidence-based infrastructure investment decisions.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892040"/>
            <a:ext cx="5669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892040"/>
            <a:ext cx="73152" cy="17373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983479"/>
            <a:ext cx="53492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0F5132"/>
                </a:solidFill>
                <a:latin typeface="Segoe UI"/>
              </a:rPr>
              <a:t>🌍 Responsible Tourism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394959"/>
            <a:ext cx="534924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By routing travelers to community-verified, off-beaten-path destinations, Bhromon distributes tourist spend more equitably across Bangladesh's regions.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D1FAE5"/>
                </a:solidFill>
                <a:latin typeface="Segoe UI"/>
              </a:rPr>
              <a:t>Pre-Seed 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7315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F59E0B"/>
                </a:solidFill>
                <a:latin typeface="Segoe UI"/>
              </a:rPr>
              <a:t>$75,000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D1FAE5"/>
                </a:solidFill>
                <a:latin typeface="Segoe UI"/>
              </a:rPr>
              <a:t>≈ BDT 82,00,000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6B7280"/>
                </a:solidFill>
                <a:latin typeface="Segoe UI"/>
              </a:rPr>
              <a:t>6-month runway to public launch + 50K MAU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600200"/>
            <a:ext cx="5029200" cy="50292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67335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BUDGET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103120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40%  Engineering &amp;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103120"/>
            <a:ext cx="1417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FFFFFF"/>
                </a:solidFill>
                <a:latin typeface="Segoe UI"/>
              </a:rPr>
              <a:t>$30,000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816352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16%  Content Seeding (Founding Explorers)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816352"/>
            <a:ext cx="1417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FFFFFF"/>
                </a:solidFill>
                <a:latin typeface="Segoe UI"/>
              </a:rPr>
              <a:t>$12,000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529584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17%  Marketing &amp; Community Building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529584"/>
            <a:ext cx="1417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FFFFFF"/>
                </a:solidFill>
                <a:latin typeface="Segoe UI"/>
              </a:rPr>
              <a:t>$13,000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242816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7%  Infrastructure (Firebase, GCP)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4242816"/>
            <a:ext cx="1417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FFFFFF"/>
                </a:solidFill>
                <a:latin typeface="Segoe UI"/>
              </a:rPr>
              <a:t>$5,000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956048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7%  Legal &amp; Company Registration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4956048"/>
            <a:ext cx="1417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FFFFFF"/>
                </a:solidFill>
                <a:latin typeface="Segoe UI"/>
              </a:rPr>
              <a:t>$5,000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5669280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1FAE5"/>
                </a:solidFill>
                <a:latin typeface="Segoe UI"/>
              </a:rPr>
              <a:t>13%  Operations &amp; Contingency Reserve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5669280"/>
            <a:ext cx="1417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FFFFFF"/>
                </a:solidFill>
                <a:latin typeface="Segoe UI"/>
              </a:rPr>
              <a:t>$10,000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D1FAE5"/>
                </a:solidFill>
                <a:latin typeface="Segoe UI"/>
              </a:rPr>
              <a:t>★  Equity structure and terms available on request.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100584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INVESTOR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D1FAE5"/>
                </a:solidFill>
                <a:latin typeface="Segoe UI"/>
              </a:rPr>
              <a:t>Why Bhromon is the right bet, right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669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669280" cy="384048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97864"/>
            <a:ext cx="5394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🏆 First-Mover in a Defined Niche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5394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No structured travel intelligence platform exists for Bangladesh. The addressable market is real, large (20M travelers), and underserved. First-mover network effects in content platforms are extremely durable.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143000"/>
            <a:ext cx="5669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143000"/>
            <a:ext cx="5669280" cy="384048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197864"/>
            <a:ext cx="5394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🛡️ Defensible Technical Moat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618488"/>
            <a:ext cx="5394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Offline-first architecture with CRDT-style conflict resolution + seeded content database creates a barrier that takes years to replicate. The content graph grows in value exponentially with each new TripLog.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5669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5669280" cy="384048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72384"/>
            <a:ext cx="5394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💡 Aligned Incentive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93008"/>
            <a:ext cx="5394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Unlike booking platforms, Bhromon's revenue streams (Premium Guides, Partner Picks, Regional Grants) are structurally aligned with quality and trust. Revenue and community trust reinforce each other.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3017520"/>
            <a:ext cx="5669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3017520"/>
            <a:ext cx="5669280" cy="384048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072384"/>
            <a:ext cx="5394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📈 Bangladesh Macro Tailwinds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493008"/>
            <a:ext cx="5394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Rising GDP, expanding 4G, government tourism investment, and a maturing Gen Z travel culture all point toward growing digital travel research demand over the next 5–10 years.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92040"/>
            <a:ext cx="5669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5669280" cy="384048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946903"/>
            <a:ext cx="5394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🧠 Lean &amp; Capital-Efficient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367527"/>
            <a:ext cx="5394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$75K buys 6-month runway to 50K MAU. Infrastructure at 10K MAU costs $1.11/month. The team has already built to v1.4, demonstrating execution. Capital efficiency is built into the architecture.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7648" y="4892040"/>
            <a:ext cx="5669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4892040"/>
            <a:ext cx="5669280" cy="384048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4946903"/>
            <a:ext cx="5394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🌍 Replicable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5367527"/>
            <a:ext cx="5394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A2E"/>
                </a:solidFill>
                <a:latin typeface="Segoe UI"/>
              </a:rPr>
              <a:t>The same geospatial community-knowledge-graph model applies to Nepal, Myanmar, Sri Lanka, and Southeast Asia's emerging travel markets. Bangladesh is the proof-of-concept for a regional platform.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SUCCESS METRICS —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77824"/>
            <a:ext cx="1097280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788920" cy="54864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78892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257860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📱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91640"/>
            <a:ext cx="25786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MAU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257860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10K / 30K / 150K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32888"/>
            <a:ext cx="257860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1FAE5"/>
                </a:solidFill>
                <a:latin typeface="Segoe UI"/>
              </a:rPr>
              <a:t>Year 1 / 2 /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10128"/>
            <a:ext cx="25786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TripLogs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39312"/>
            <a:ext cx="257860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300 seeded → 5K / 20K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151376"/>
            <a:ext cx="257860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1FAE5"/>
                </a:solidFill>
                <a:latin typeface="Segoe UI"/>
              </a:rPr>
              <a:t>Pre-launch → Yr1 / Yr2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928616"/>
            <a:ext cx="25786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D30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57800"/>
            <a:ext cx="257860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&gt; 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769864"/>
            <a:ext cx="257860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1FAE5"/>
                </a:solidFill>
                <a:latin typeface="Segoe UI"/>
              </a:rPr>
              <a:t>Industry benchmark: 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1097280"/>
            <a:ext cx="2788920" cy="54864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1097280"/>
            <a:ext cx="278892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1152144"/>
            <a:ext cx="257860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💰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1691640"/>
            <a:ext cx="25786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Total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020824"/>
            <a:ext cx="257860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$10K / $55K / $170K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2532888"/>
            <a:ext cx="257860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1FAE5"/>
                </a:solidFill>
                <a:latin typeface="Segoe UI"/>
              </a:rPr>
              <a:t>Year 1 / 2 /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3310128"/>
            <a:ext cx="25786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Premium Guide GMV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3639312"/>
            <a:ext cx="257860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$10K / $75K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151376"/>
            <a:ext cx="257860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1FAE5"/>
                </a:solidFill>
                <a:latin typeface="Segoe UI"/>
              </a:rPr>
              <a:t>Year 2 /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4928616"/>
            <a:ext cx="25786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B2B Partners Active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5257800"/>
            <a:ext cx="257860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10 / 30 / 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5769864"/>
            <a:ext cx="257860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1FAE5"/>
                </a:solidFill>
                <a:latin typeface="Segoe UI"/>
              </a:rPr>
              <a:t>Year 1 / 2 /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097280"/>
            <a:ext cx="2788920" cy="54864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8892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1152144"/>
            <a:ext cx="257860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🏆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1691640"/>
            <a:ext cx="25786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Avg Trip Completeness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2020824"/>
            <a:ext cx="257860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&gt; 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2532888"/>
            <a:ext cx="257860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1FAE5"/>
                </a:solidFill>
                <a:latin typeface="Segoe UI"/>
              </a:rPr>
              <a:t>Gate enforced structurally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3310128"/>
            <a:ext cx="25786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Pro-Tip Freshness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3639312"/>
            <a:ext cx="257860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&gt; 70% Fresh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151376"/>
            <a:ext cx="257860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1FAE5"/>
                </a:solidFill>
                <a:latin typeface="Segoe UI"/>
              </a:rPr>
              <a:t>&lt; 30 days since confirm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4928616"/>
            <a:ext cx="25786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NPS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5257800"/>
            <a:ext cx="257860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&gt; 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5769864"/>
            <a:ext cx="257860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1FAE5"/>
                </a:solidFill>
                <a:latin typeface="Segoe UI"/>
              </a:rPr>
              <a:t>Target: promoter-grade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1097280"/>
            <a:ext cx="2788920" cy="54864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35440" y="1097280"/>
            <a:ext cx="278892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5168" y="1152144"/>
            <a:ext cx="257860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🛡️ TRUST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1691640"/>
            <a:ext cx="25786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Safety Flag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5168" y="2020824"/>
            <a:ext cx="257860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&lt; 4 hrs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5168" y="2532888"/>
            <a:ext cx="257860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1FAE5"/>
                </a:solidFill>
                <a:latin typeface="Segoe UI"/>
              </a:rPr>
              <a:t>Average resolution 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5168" y="3310128"/>
            <a:ext cx="25786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False content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5168" y="3639312"/>
            <a:ext cx="257860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&lt; 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5168" y="4151376"/>
            <a:ext cx="257860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1FAE5"/>
                </a:solidFill>
                <a:latin typeface="Segoe UI"/>
              </a:rPr>
              <a:t>Post-moderation accuracy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45168" y="4928616"/>
            <a:ext cx="25786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Pioneer Explorers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5168" y="5257800"/>
            <a:ext cx="257860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30 pre-launch / 100 Yr1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45168" y="5769864"/>
            <a:ext cx="257860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1FAE5"/>
                </a:solidFill>
                <a:latin typeface="Segoe UI"/>
              </a:rPr>
              <a:t>Founding tier coverage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0" y="649224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5720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6080" y="283464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400" b="1" i="0">
                <a:solidFill>
                  <a:srgbClr val="FFFFFF"/>
                </a:solidFill>
                <a:latin typeface="Segoe UI"/>
              </a:rPr>
              <a:t>BHROMON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931920"/>
            <a:ext cx="77724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 i="1">
                <a:solidFill>
                  <a:srgbClr val="D1FAE5"/>
                </a:solidFill>
                <a:latin typeface="Segoe UI"/>
              </a:rPr>
              <a:t>The Community-Driven Travel Intelligence Platform
for Bangladeshi Explorers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828032"/>
            <a:ext cx="758952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983480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M. S. Rana  ·  CEO &amp; Product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376672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Izhaan Intellect  ·  Co-Founder &amp; 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5833872"/>
            <a:ext cx="5760720" cy="914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5943600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D1FAE5"/>
                </a:solidFill>
                <a:latin typeface="Segoe UI"/>
              </a:rPr>
              <a:t>📧 mybhromon@gmail.com   ·   📱 01762033445   ·   🌐 bhromon.fun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400800"/>
            <a:ext cx="9418320" cy="34747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6446520"/>
            <a:ext cx="9235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0" i="1">
                <a:solidFill>
                  <a:srgbClr val="D1FAE5"/>
                </a:solidFill>
                <a:latin typeface="Segoe UI"/>
              </a:rPr>
              <a:t>"We are not a marketplace. We are the map, the guide, and the trusted companion."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