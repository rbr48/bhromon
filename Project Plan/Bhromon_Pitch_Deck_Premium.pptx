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2286000"/>
            <a:ext cx="5943600" cy="50292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4A22"/>
              </a:gs>
              <a:gs pos="100000">
                <a:srgbClr val="0D1117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68680"/>
            <a:ext cx="1417320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685800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"/>
              </a:rPr>
              <a:t>BHROMON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288" y="2176272"/>
            <a:ext cx="685800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4288" y="2304288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D1D9"/>
                </a:solidFill>
                <a:latin typeface="Segoe UI"/>
              </a:rPr>
              <a:t>Community-Driven Travel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277977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Segoe UI"/>
              </a:rPr>
              <a:t>for Bangladeshi Explorers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401568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Segoe UI"/>
              </a:rPr>
              <a:t>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Pre-Seed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35478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Segoe UI"/>
              </a:rPr>
              <a:t>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822191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$75,000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35478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Segoe UI"/>
              </a:rPr>
              <a:t>RUNWAY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3822191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35478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Segoe UI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3822191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50K MAU Yr1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36208"/>
            <a:ext cx="12188952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2910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D1D9"/>
                </a:solidFill>
                <a:latin typeface="Segoe UI"/>
              </a:rPr>
              <a:t>M. S. Rana  ·  CEO &amp; Product Lead     |     Izhaan Intellect  ·  Co-Founder &amp; 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mybhromon@gmail.com  ·  01762033445  ·  bhromon.fun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663440"/>
            <a:ext cx="3246120" cy="138988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0" y="4663440"/>
            <a:ext cx="45720" cy="138988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4773168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D1D9"/>
                </a:solidFill>
                <a:latin typeface="Segoe UI"/>
              </a:rPr>
              <a:t>"We are not a marketplace.
We are the map, the guide,
and the trusted companion."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0C040"/>
                </a:solidFill>
                <a:latin typeface="Segoe UI"/>
              </a:rPr>
              <a:t>20M+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domestic travelers per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</a:rPr>
              <a:t>navigating a broken information ecosystem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3200400" cy="9525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FB950"/>
                </a:solidFill>
                <a:latin typeface="Segoe UI"/>
              </a:rPr>
              <a:t>Zero structured platform exists.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481328"/>
            <a:ext cx="6492240" cy="950976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66360" y="1481328"/>
            <a:ext cx="45720" cy="9509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572768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Fragmentation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920240"/>
            <a:ext cx="6172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200+ closed FB groups, old blogs — 4–8 hrs research, unreliable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2523744"/>
            <a:ext cx="6492240" cy="950976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2523744"/>
            <a:ext cx="45720" cy="9509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615184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Information Asymmetry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962656"/>
            <a:ext cx="6172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CHT rules, ferry schedules, road conditions change — no updates, dangerous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3566160"/>
            <a:ext cx="6492240" cy="950976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60" y="3566160"/>
            <a:ext cx="45720" cy="9509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365760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Commercial 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005072"/>
            <a:ext cx="6172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Booking apps rank by commission. Sponsored posts disguised as reviews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4608576"/>
            <a:ext cx="6492240" cy="950976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4608576"/>
            <a:ext cx="45720" cy="9509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4700016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Ephemeral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047488"/>
            <a:ext cx="6172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Local guides' numbers, trail warnings live in chats that permanently vanish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5650992"/>
            <a:ext cx="6492240" cy="950976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5650992"/>
            <a:ext cx="45720" cy="9509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5742431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Offline Exclusion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6089904"/>
            <a:ext cx="6172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Sajek, Nilgiri, Sundarbans: 0% signal. Every existing app fails there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40"/>
                </a:solidFill>
                <a:latin typeface="Segoe UI"/>
              </a:rPr>
              <a:t>A geospatial knowledge graph — not a booking app, not a social feed.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703320" cy="468172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70332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299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146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Verified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35808"/>
            <a:ext cx="320040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182112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Trust-scored location pins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986784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GPS trail recording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791456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Full offline — 0%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96128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Custom dark map tiles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920240"/>
            <a:ext cx="3703320" cy="468172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920240"/>
            <a:ext cx="370332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0299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5146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TripLog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90872" y="3035808"/>
            <a:ext cx="320040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182112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Block-based content editor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986784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Cost diary + route +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4791456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Completeness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5596128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Offline-first drafts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920240"/>
            <a:ext cx="3703320" cy="468172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920240"/>
            <a:ext cx="370332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7072" y="20299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  <a:latin typeface="Segoe U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25146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Trust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77072" y="3035808"/>
            <a:ext cx="320040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2" y="3182112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Public Explorer Score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3986784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5-tier permission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4791456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Pro-Tip decay + re-validation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5596128"/>
            <a:ext cx="33101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Community moderation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The Engagement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77824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3703320" cy="24231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703320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91056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F37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4825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Segoe UI"/>
              </a:rPr>
              <a:t>Discover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487168"/>
            <a:ext cx="320040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596896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Open map. Find verified pins,
TripLogs &amp; Pro-Tips.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395728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7F37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7" y="1389888"/>
            <a:ext cx="3703320" cy="24231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389888"/>
            <a:ext cx="3703320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91056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F37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4825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Segoe UI"/>
              </a:rPr>
              <a:t>Document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487168"/>
            <a:ext cx="320040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596896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Record trip — route, costs,
photos, safety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2395728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7F37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11896" y="1389888"/>
            <a:ext cx="3703320" cy="24231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11896" y="1389888"/>
            <a:ext cx="3703320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1591056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F37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204825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Segoe UI"/>
              </a:rPr>
              <a:t>Validate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67928" y="2487168"/>
            <a:ext cx="320040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2596896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Community confirms tips.
Upvotes boost your score.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68496"/>
            <a:ext cx="3703320" cy="24231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968496"/>
            <a:ext cx="3703320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4169663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F37"/>
                </a:solidFill>
                <a:latin typeface="Segoe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62686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Segoe UI"/>
              </a:rPr>
              <a:t>Share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5065776"/>
            <a:ext cx="320040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175504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TripLog goes live.
Others download it offline.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59" y="4974336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7F37"/>
                </a:solidFill>
                <a:latin typeface="Segoe U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7" y="3968496"/>
            <a:ext cx="3703320" cy="24231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07407" y="3968496"/>
            <a:ext cx="3703320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169663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F37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62686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Segoe UI"/>
              </a:rPr>
              <a:t>Earn Rep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5065776"/>
            <a:ext cx="320040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175504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Score rises. Unlock new
privileges &amp; expert status.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7" y="4974336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7F37"/>
                </a:solidFill>
                <a:latin typeface="Segoe U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11896" y="3968496"/>
            <a:ext cx="3703320" cy="24231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11896" y="3968496"/>
            <a:ext cx="3703320" cy="4572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4169663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6000"/>
                </a:solidFill>
                <a:latin typeface="Segoe U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7928" y="462686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Segoe UI"/>
              </a:rPr>
              <a:t>Repeat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67928" y="5065776"/>
            <a:ext cx="320040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7928" y="5175504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Better rep → better discovery
→ richer knowledge graph.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Product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Segoe UI"/>
              </a:rPr>
              <a:t>Five engineering pillars that make Bhromon structurally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53312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109960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64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Verified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9888" y="2048256"/>
            <a:ext cx="99212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121408"/>
            <a:ext cx="9921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MapLibre GL  ·  GPS trail drawing  ·  Trust-score pin tiers  ·  Full offline at 0%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109960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TripLog Editor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3035808"/>
            <a:ext cx="99212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3108960"/>
            <a:ext cx="9921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Blocks: text, images, video, cost diary, GPS route, safety notes  ·  Completeness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47872"/>
            <a:ext cx="11109960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3075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Pro-Tips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88" y="4023360"/>
            <a:ext cx="99212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4096511"/>
            <a:ext cx="9921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Decay status: Fresh / Aging / Stale  ·  FCM push on stale  ·  One-tap re-validation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35424"/>
            <a:ext cx="11109960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18304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6268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Offline Vault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89888" y="5010912"/>
            <a:ext cx="99212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9888" y="5084064"/>
            <a:ext cx="9921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One-tap district download  ·  OSM tiles zoom 10–16  ·  3-way merge on reconnect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22976"/>
            <a:ext cx="11109960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70585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5614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Trust Engine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9888" y="5998464"/>
            <a:ext cx="99212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6071616"/>
            <a:ext cx="9921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Public formula on every profile  ·  5 permission tiers  ·  Vote-spike anti-gaming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Trust Engine &amp; Explorer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77824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109960" cy="868680"/>
          </a:xfrm>
          <a:prstGeom prst="roundRect">
            <a:avLst>
              <a:gd name="adj" fmla="val 80000"/>
            </a:avLst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10744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0C040"/>
                </a:solidFill>
                <a:latin typeface="Consolas"/>
              </a:rPr>
              <a:t>Score  =  (helpfulVotes × 2)  +  (tripsPublished × freshnessDecay)  +  peerEndorsements  −  (spamFlags × 5)  −  (safetyFlags × 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9152"/>
            <a:ext cx="2176272" cy="422452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59152"/>
            <a:ext cx="2176272" cy="3175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  <a:latin typeface="Segoe UI"/>
              </a:rPr>
              <a:t>UNVERIFIED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1810512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01568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  <a:latin typeface="Segoe UI"/>
              </a:rPr>
              <a:t>Score:
0–49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60520"/>
            <a:ext cx="1810512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21762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</a:rPr>
              <a:t>Post Pro-Tips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2359152"/>
            <a:ext cx="2176272" cy="4224528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52928" y="2359152"/>
            <a:ext cx="2176272" cy="317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633472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COMMUNITY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5808" y="3291840"/>
            <a:ext cx="1810512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3401568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Score:
≥ 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4160520"/>
            <a:ext cx="1810512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4279392"/>
            <a:ext cx="21762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Publish TripLogs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57216" y="2359152"/>
            <a:ext cx="2176272" cy="4224528"/>
          </a:xfrm>
          <a:prstGeom prst="roundRect">
            <a:avLst>
              <a:gd name="adj" fmla="val 80000"/>
            </a:avLst>
          </a:prstGeom>
          <a:solidFill>
            <a:srgbClr val="24292F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2359152"/>
            <a:ext cx="2176272" cy="317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7216" y="2633472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VERIFIED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0096" y="3291840"/>
            <a:ext cx="1810512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401568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Score:
≥ 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0096" y="4160520"/>
            <a:ext cx="1810512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4279392"/>
            <a:ext cx="21762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Create Premium Guides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2359152"/>
            <a:ext cx="2176272" cy="4224528"/>
          </a:xfrm>
          <a:prstGeom prst="roundRect">
            <a:avLst>
              <a:gd name="adj" fmla="val 80000"/>
            </a:avLst>
          </a:prstGeom>
          <a:solidFill>
            <a:srgbClr val="785000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2359152"/>
            <a:ext cx="2176272" cy="317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2633472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40"/>
                </a:solidFill>
                <a:latin typeface="Segoe UI"/>
              </a:rPr>
              <a:t>REGION
EXPERT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44383" y="3291840"/>
            <a:ext cx="1810512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1504" y="3401568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C040"/>
                </a:solidFill>
                <a:latin typeface="Segoe UI"/>
              </a:rPr>
              <a:t>Score:
≥ 500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44383" y="4160520"/>
            <a:ext cx="1810512" cy="3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4" y="4279392"/>
            <a:ext cx="21762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C040"/>
                </a:solidFill>
                <a:latin typeface="Segoe UI"/>
              </a:rPr>
              <a:t>Division moderation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65792" y="2359152"/>
            <a:ext cx="2176272" cy="4224528"/>
          </a:xfrm>
          <a:prstGeom prst="roundRect">
            <a:avLst>
              <a:gd name="adj" fmla="val 80000"/>
            </a:avLst>
          </a:prstGeom>
          <a:solidFill>
            <a:srgbClr val="7A0000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65792" y="2359152"/>
            <a:ext cx="2176272" cy="31750"/>
          </a:xfrm>
          <a:prstGeom prst="rect">
            <a:avLst/>
          </a:prstGeom>
          <a:solidFill>
            <a:srgbClr val="FF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5792" y="2633472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PIONEER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48672" y="3291840"/>
            <a:ext cx="1810512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5792" y="3401568"/>
            <a:ext cx="2176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Score:
Invite
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4160520"/>
            <a:ext cx="1810512" cy="3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65792" y="4279392"/>
            <a:ext cx="21762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Founding badge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65392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7606A"/>
                </a:solidFill>
                <a:latin typeface="Segoe UI"/>
              </a:rPr>
              <a:t>Formula is public on every user profile. No hidden algorithms. No paid ranking boosts.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074920" cy="150876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5720" cy="15087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19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0C040"/>
                </a:solidFill>
                <a:latin typeface="Segoe UI"/>
              </a:rPr>
              <a:t>20M+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Total Addressable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Domestic leisure travelers /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5074920" cy="150876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3FB950"/>
                </a:solidFill>
                <a:latin typeface="Segoe UI"/>
              </a:rPr>
              <a:t>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33087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Serviceable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Mobile-first 18–35, 2+ trips/year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92040"/>
            <a:ext cx="5074920" cy="150876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45720" cy="1508760"/>
          </a:xfrm>
          <a:prstGeom prst="rect">
            <a:avLst/>
          </a:prstGeom>
          <a:solidFill>
            <a:srgbClr val="C9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C9D1D9"/>
                </a:solidFill>
                <a:latin typeface="Segoe UI"/>
              </a:rPr>
              <a:t>50K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24727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Year 1 Target MAU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126479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Segoe UI"/>
              </a:rPr>
              <a:t>Realistic 6-month public beta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50876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WHY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828800"/>
            <a:ext cx="6035040" cy="127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19385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C040"/>
                </a:solidFill>
                <a:latin typeface="Segoe UI"/>
              </a:rPr>
              <a:t>60%+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02996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smartphone penetration in Bangladesh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596896"/>
            <a:ext cx="60350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88950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C040"/>
                </a:solidFill>
                <a:latin typeface="Segoe UI"/>
              </a:rPr>
              <a:t>$170K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98094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projected Year 3 annual revenue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547872"/>
            <a:ext cx="60350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384048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C040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93192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clean revenue streams, zero banner 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4498848"/>
            <a:ext cx="60350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479145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C040"/>
                </a:solidFill>
                <a:latin typeface="Segoe UI"/>
              </a:rPr>
              <a:t>$1.11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882896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infrastructure cost / month at 10K MAU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5449824"/>
            <a:ext cx="603504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574243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C040"/>
                </a:solidFill>
                <a:latin typeface="Segoe UI"/>
              </a:rPr>
              <a:t>Yr3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583387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break-even, path to Series 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Who We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77824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261872"/>
            <a:ext cx="2788920" cy="53949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261872"/>
            <a:ext cx="2788920" cy="98755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2588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Shefali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0FF"/>
                </a:solidFill>
                <a:latin typeface="Segoe UI"/>
              </a:rPr>
              <a:t>Modern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7606A"/>
                </a:solidFill>
                <a:latin typeface="Segoe UI"/>
              </a:rPr>
              <a:t>21 · DU Student · Mirpur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33472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2491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F37"/>
                </a:solidFill>
                <a:latin typeface="Segoe UI"/>
              </a:rPr>
              <a:t>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9923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3–4 trips/yr, BDT 3–8K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0215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Off-beat: Sajek, Tanguar Haor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0507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6+ hrs research per 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079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Lost from 2018 blog posts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047488"/>
            <a:ext cx="2423160" cy="127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157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38636"/>
                </a:solidFill>
                <a:latin typeface="Segoe UI"/>
              </a:rPr>
              <a:t>Fast, verified, offline info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261872"/>
            <a:ext cx="2788920" cy="53949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9856" y="1261872"/>
            <a:ext cx="2788920" cy="987552"/>
          </a:xfrm>
          <a:prstGeom prst="roundRect">
            <a:avLst>
              <a:gd name="adj" fmla="val 80000"/>
            </a:avLst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132588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Arif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0FF"/>
                </a:solidFill>
                <a:latin typeface="Segoe UI"/>
              </a:rPr>
              <a:t>Content Creator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234086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7606A"/>
                </a:solidFill>
                <a:latin typeface="Segoe UI"/>
              </a:rPr>
              <a:t>26 · Freelancer · Chittagong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2736" y="2633472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272491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F37"/>
                </a:solidFill>
                <a:latin typeface="Segoe UI"/>
              </a:rPr>
              <a:t>PAIN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299923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Monthly destination travel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350215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YouTube &amp; IG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2736" y="400507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Needs creation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45079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No monetization in BD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2736" y="5047488"/>
            <a:ext cx="2423160" cy="12700"/>
          </a:xfrm>
          <a:prstGeom prst="rect">
            <a:avLst/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2736" y="5157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3597E"/>
                </a:solidFill>
                <a:latin typeface="Segoe UI"/>
              </a:rPr>
              <a:t>Platform where content earns income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4224" y="1261872"/>
            <a:ext cx="2788920" cy="53949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64224" y="1261872"/>
            <a:ext cx="2788920" cy="987552"/>
          </a:xfrm>
          <a:prstGeom prst="roundRect">
            <a:avLst>
              <a:gd name="adj" fmla="val 80000"/>
            </a:avLst>
          </a:prstGeom>
          <a:solidFill>
            <a:srgbClr val="4C2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132588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Salma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0FF"/>
                </a:solidFill>
                <a:latin typeface="Segoe UI"/>
              </a:rPr>
              <a:t>Family Planner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234086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7606A"/>
                </a:solidFill>
                <a:latin typeface="Segoe UI"/>
              </a:rPr>
              <a:t>34 · Teacher · Sylhet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7104" y="2633472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4" y="272491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F37"/>
                </a:solidFill>
                <a:latin typeface="Segoe UI"/>
              </a:rPr>
              <a:t>PAIN 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299923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1–2 family trips/year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4" y="350215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Safety non-negotiable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00507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Distrusts paid reviews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45079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Needs child-safe info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47104" y="5047488"/>
            <a:ext cx="2423160" cy="12700"/>
          </a:xfrm>
          <a:prstGeom prst="rect">
            <a:avLst/>
          </a:prstGeom>
          <a:solidFill>
            <a:srgbClr val="4C2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47104" y="5157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4C2A8F"/>
                </a:solidFill>
                <a:latin typeface="Segoe UI"/>
              </a:rPr>
              <a:t>Trustworthy, family-verified content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08592" y="1261872"/>
            <a:ext cx="2788920" cy="53949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08592" y="1261872"/>
            <a:ext cx="2788920" cy="987552"/>
          </a:xfrm>
          <a:prstGeom prst="roundRect">
            <a:avLst>
              <a:gd name="adj" fmla="val 80000"/>
            </a:avLst>
          </a:prstGeom>
          <a:solidFill>
            <a:srgbClr val="80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91472" y="132588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Rafiq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1472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E080"/>
                </a:solidFill>
                <a:latin typeface="Segoe UI"/>
              </a:rPr>
              <a:t>Local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234086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7606A"/>
                </a:solidFill>
                <a:latin typeface="Segoe UI"/>
              </a:rPr>
              <a:t>29 · Village · Rangamati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91472" y="2633472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91472" y="272491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F37"/>
                </a:solidFill>
                <a:latin typeface="Segoe UI"/>
              </a:rPr>
              <a:t>PAIN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1472" y="299923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Knows every trail &amp; season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91472" y="350215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No platform for expertise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91472" y="400507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Economy tied to tourism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91472" y="45079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4292F"/>
                </a:solidFill>
                <a:latin typeface="Segoe UI"/>
              </a:rPr>
              <a:t>• Wants recognition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91472" y="5047488"/>
            <a:ext cx="2423160" cy="12700"/>
          </a:xfrm>
          <a:prstGeom prst="rect">
            <a:avLst/>
          </a:prstGeom>
          <a:solidFill>
            <a:srgbClr val="80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157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05800"/>
                </a:solidFill>
                <a:latin typeface="Segoe UI"/>
              </a:rPr>
              <a:t>Platform valuing local knowledge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8B949E"/>
                </a:solidFill>
                <a:latin typeface="Segoe UI"/>
              </a:rPr>
              <a:t>No direct competitor addresses all five dimensions simultaneously.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3035808" cy="594360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0752" y="1755648"/>
            <a:ext cx="2011679" cy="594360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75564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Facebook
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88736" y="1755648"/>
            <a:ext cx="2011679" cy="594360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8736" y="175564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TripAdvisor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755648"/>
            <a:ext cx="2011679" cy="594360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75564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Google Maps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22992" y="1755648"/>
            <a:ext cx="1773936" cy="594360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22992" y="1755648"/>
            <a:ext cx="1773936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22992" y="1755648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✦ Bhromon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3035808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23160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Segoe UI"/>
              </a:rPr>
              <a:t>Offline functionality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30752" y="2423160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242316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88736" y="2423160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8736" y="242316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423160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42316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040"/>
                </a:solidFill>
                <a:latin typeface="Segoe UI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2992" y="2423160"/>
            <a:ext cx="1773936" cy="594360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2423160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81528"/>
            <a:ext cx="3035808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081528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Segoe UI"/>
              </a:rPr>
              <a:t>Freshness tracking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30752" y="3081528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308152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8736" y="3081528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308152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081528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08152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22992" y="3081528"/>
            <a:ext cx="1773936" cy="594360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22992" y="3081528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39896"/>
            <a:ext cx="3035808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39896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Segoe UI"/>
              </a:rPr>
              <a:t>Transparent trust scores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30752" y="3739896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3739896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8736" y="3739896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88736" y="3739896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040"/>
                </a:solidFill>
                <a:latin typeface="Segoe UI"/>
              </a:rPr>
              <a:t>Stars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739896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3739896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040"/>
                </a:solidFill>
                <a:latin typeface="Segoe UI"/>
              </a:rPr>
              <a:t>Stars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22992" y="3739896"/>
            <a:ext cx="1773936" cy="594360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22992" y="3739896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98264"/>
            <a:ext cx="3035808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398264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Segoe UI"/>
              </a:rPr>
              <a:t>Bangladesh-specific design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30752" y="4398264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0752" y="43982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040"/>
                </a:solidFill>
                <a:latin typeface="Segoe UI"/>
              </a:rPr>
              <a:t>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88736" y="4398264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88736" y="43982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4398264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4398264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22992" y="4398264"/>
            <a:ext cx="1773936" cy="594360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22992" y="4398264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056631"/>
            <a:ext cx="3035808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056631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Segoe UI"/>
              </a:rPr>
              <a:t>Local knowledge preserved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30752" y="5056631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30752" y="5056631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88736" y="5056631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88736" y="5056631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5056631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0" y="5056631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22992" y="5056631"/>
            <a:ext cx="1773936" cy="594360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22992" y="5056631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715000"/>
            <a:ext cx="3035808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5715000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Segoe UI"/>
              </a:rPr>
              <a:t>No booking commissions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0752" y="5715000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30752" y="571500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88736" y="5715000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88736" y="571500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5715000"/>
            <a:ext cx="2011679" cy="59436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0" y="5715000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22992" y="5715000"/>
            <a:ext cx="1773936" cy="594360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22992" y="5715000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6373368"/>
            <a:ext cx="3035808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6373368"/>
            <a:ext cx="30358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Segoe UI"/>
              </a:rPr>
              <a:t>Creator income mechanism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30752" y="6373368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30752" y="637336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88736" y="6373368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88736" y="637336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46720" y="6373368"/>
            <a:ext cx="2011679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46720" y="6373368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7070"/>
                </a:solidFill>
                <a:latin typeface="Segoe UI"/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22992" y="6373368"/>
            <a:ext cx="1773936" cy="594360"/>
          </a:xfrm>
          <a:prstGeom prst="rect">
            <a:avLst/>
          </a:prstGeom>
          <a:solidFill>
            <a:srgbClr val="0D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22992" y="6373368"/>
            <a:ext cx="1773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B950"/>
                </a:solidFill>
                <a:latin typeface="Segoe UI"/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778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7606A"/>
                </a:solidFill>
                <a:latin typeface="Segoe UI"/>
              </a:rPr>
              <a:t>Zero banner ads. Zero booking commissions. Four clean revenue streams.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98448"/>
            <a:ext cx="2788920" cy="868680"/>
          </a:xfrm>
          <a:prstGeom prst="roundRect">
            <a:avLst>
              <a:gd name="adj" fmla="val 80000"/>
            </a:avLst>
          </a:prstGeom>
          <a:solidFill>
            <a:srgbClr val="44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533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0"/>
                </a:solidFill>
                <a:latin typeface="Segoe UI"/>
              </a:rPr>
              <a:t>FREE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Community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8600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All TripLogs, Pro-Tips, basic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4728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1 district offline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7141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Explorer Score &amp; community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49554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Free forever — builds network effects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9856" y="1298448"/>
            <a:ext cx="2788920" cy="868680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13533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0"/>
                </a:solidFill>
                <a:latin typeface="Segoe UI"/>
              </a:rPr>
              <a:t>B2B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1627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Partner Picks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2736" y="228600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Eco-resorts, tour ops, gear shops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44728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BDT 2,000–8,000/month listing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447141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30-day free trial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549554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Year 1 target: BDT 40K/month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4224" y="1298448"/>
            <a:ext cx="2788920" cy="868680"/>
          </a:xfrm>
          <a:prstGeom prst="roundRect">
            <a:avLst>
              <a:gd name="adj" fmla="val 80000"/>
            </a:avLst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13533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C040"/>
                </a:solidFill>
                <a:latin typeface="Segoe UI"/>
              </a:rPr>
              <a:t>B2C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1627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Premium Guides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7104" y="228600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Creator marketplace — 20% fee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344728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BDT 99–999 per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47141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Eligibility: Verified tier ≥200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49554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bKash · Nagad · VISA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08592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08592" y="1298448"/>
            <a:ext cx="2788920" cy="868680"/>
          </a:xfrm>
          <a:prstGeom prst="roundRect">
            <a:avLst>
              <a:gd name="adj" fmla="val 80000"/>
            </a:avLst>
          </a:prstGeom>
          <a:solidFill>
            <a:srgbClr val="7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13533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C44"/>
                </a:solidFill>
                <a:latin typeface="Segoe UI"/>
              </a:rPr>
              <a:t>B2G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1627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Regional Grants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1472" y="228600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91472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Bangladesh Tourism 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344728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BDT 2.5L–5L per region/year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4471416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Custom map +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5495544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Year 1: CHT or Sundarbans pilot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Revenue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600200" cy="3429000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708622"/>
            <a:ext cx="1600200" cy="201705"/>
          </a:xfrm>
          <a:prstGeom prst="roundRect">
            <a:avLst>
              <a:gd name="adj" fmla="val 80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6971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9922"/>
                </a:solidFill>
                <a:latin typeface="Segoe UI"/>
              </a:rPr>
              <a:t>$10K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Year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481328"/>
            <a:ext cx="1600200" cy="3429000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3800945"/>
            <a:ext cx="1600200" cy="1109382"/>
          </a:xfrm>
          <a:prstGeom prst="roundRect">
            <a:avLst>
              <a:gd name="adj" fmla="val 80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362033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40"/>
                </a:solidFill>
                <a:latin typeface="Segoe UI"/>
              </a:rPr>
              <a:t>$55K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029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Year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481328"/>
            <a:ext cx="1600200" cy="3429000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481328"/>
            <a:ext cx="1600200" cy="3429000"/>
          </a:xfrm>
          <a:prstGeom prst="roundRect">
            <a:avLst>
              <a:gd name="adj" fmla="val 80000"/>
            </a:avLst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042416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40"/>
                </a:solidFill>
                <a:latin typeface="Segoe UI"/>
              </a:rPr>
              <a:t>$170K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29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Year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481328"/>
            <a:ext cx="237744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481328"/>
            <a:ext cx="237744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FB950"/>
                </a:solidFill>
                <a:latin typeface="Segoe UI"/>
              </a:rPr>
              <a:t>Stream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481328"/>
            <a:ext cx="86868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481328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FB950"/>
                </a:solidFill>
                <a:latin typeface="Segoe UI"/>
              </a:rPr>
              <a:t>Year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68128" y="1481328"/>
            <a:ext cx="86868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1481328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FB950"/>
                </a:solidFill>
                <a:latin typeface="Segoe UI"/>
              </a:rPr>
              <a:t>Year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37392" y="1481328"/>
            <a:ext cx="91440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37392" y="1481328"/>
            <a:ext cx="914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FB950"/>
                </a:solidFill>
                <a:latin typeface="Segoe UI"/>
              </a:rPr>
              <a:t>Year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368296"/>
            <a:ext cx="237744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368296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Partner Picks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2368296"/>
            <a:ext cx="86868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368296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68128" y="2368296"/>
            <a:ext cx="86868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8128" y="2368296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$25,000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37392" y="2368296"/>
            <a:ext cx="91440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37392" y="2368296"/>
            <a:ext cx="914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$80,000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255264"/>
            <a:ext cx="237744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255264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Premium Guides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3255264"/>
            <a:ext cx="86868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255264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$2,000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68128" y="3255264"/>
            <a:ext cx="86868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8128" y="3255264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$15,000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37392" y="3255264"/>
            <a:ext cx="914400" cy="804672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37392" y="3255264"/>
            <a:ext cx="914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$50,000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4142232"/>
            <a:ext cx="237744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142232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Regional Grants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4142232"/>
            <a:ext cx="86868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4142232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$3,000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68128" y="4142232"/>
            <a:ext cx="86868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68128" y="4142232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$15,000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37392" y="4142232"/>
            <a:ext cx="914400" cy="8046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37392" y="4142232"/>
            <a:ext cx="914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D1D9"/>
                </a:solidFill>
                <a:latin typeface="Segoe UI"/>
              </a:rPr>
              <a:t>$40,000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5029200"/>
            <a:ext cx="2377440" cy="804672"/>
          </a:xfrm>
          <a:prstGeom prst="rect">
            <a:avLst/>
          </a:prstGeom>
          <a:solidFill>
            <a:srgbClr val="1A2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75120" y="5029200"/>
            <a:ext cx="237744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029200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C040"/>
                </a:solidFill>
                <a:latin typeface="Segoe UI"/>
              </a:rPr>
              <a:t>TOTAL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5029200"/>
            <a:ext cx="868680" cy="804672"/>
          </a:xfrm>
          <a:prstGeom prst="rect">
            <a:avLst/>
          </a:prstGeom>
          <a:solidFill>
            <a:srgbClr val="1A2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89720" y="5029200"/>
            <a:ext cx="86868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5029200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C040"/>
                </a:solidFill>
                <a:latin typeface="Segoe UI"/>
              </a:rPr>
              <a:t>$10,000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68128" y="5029200"/>
            <a:ext cx="868680" cy="804672"/>
          </a:xfrm>
          <a:prstGeom prst="rect">
            <a:avLst/>
          </a:prstGeom>
          <a:solidFill>
            <a:srgbClr val="1A2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68128" y="5029200"/>
            <a:ext cx="86868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68128" y="5029200"/>
            <a:ext cx="868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C040"/>
                </a:solidFill>
                <a:latin typeface="Segoe UI"/>
              </a:rPr>
              <a:t>$55,000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137392" y="5029200"/>
            <a:ext cx="914400" cy="804672"/>
          </a:xfrm>
          <a:prstGeom prst="rect">
            <a:avLst/>
          </a:prstGeom>
          <a:solidFill>
            <a:srgbClr val="1A2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137392" y="5029200"/>
            <a:ext cx="914400" cy="1905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37392" y="5029200"/>
            <a:ext cx="914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C040"/>
                </a:solidFill>
                <a:latin typeface="Segoe UI"/>
              </a:rPr>
              <a:t>$170,000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5779008"/>
            <a:ext cx="1325880" cy="82296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581558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FB950"/>
                </a:solidFill>
                <a:latin typeface="Segoe UI"/>
              </a:rPr>
              <a:t>CAC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608990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40"/>
                </a:solidFill>
                <a:latin typeface="Segoe UI"/>
              </a:rPr>
              <a:t>$0.80/user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65008" y="5779008"/>
            <a:ext cx="1325880" cy="82296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65008" y="581558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FB950"/>
                </a:solidFill>
                <a:latin typeface="Segoe UI"/>
              </a:rPr>
              <a:t>LTV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65008" y="608990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40"/>
                </a:solidFill>
                <a:latin typeface="Segoe UI"/>
              </a:rPr>
              <a:t>$1.50/user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54896" y="5779008"/>
            <a:ext cx="1325880" cy="82296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54896" y="581558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FB950"/>
                </a:solidFill>
                <a:latin typeface="Segoe UI"/>
              </a:rPr>
              <a:t>LTV:CAC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54896" y="608990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40"/>
                </a:solidFill>
                <a:latin typeface="Segoe UI"/>
              </a:rPr>
              <a:t>~1.9×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844784" y="5779008"/>
            <a:ext cx="1325880" cy="82296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44784" y="581558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FB950"/>
                </a:solidFill>
                <a:latin typeface="Segoe UI"/>
              </a:rPr>
              <a:t>Break-even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44784" y="608990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40"/>
                </a:solidFill>
                <a:latin typeface="Segoe UI"/>
              </a:rPr>
              <a:t>Year 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GTM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Go-to-Market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778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7606A"/>
                </a:solidFill>
                <a:latin typeface="Segoe UI"/>
              </a:rPr>
              <a:t>Supply-first: 300 TripLogs seeded before public 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44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Phase 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CFFF"/>
                </a:solidFill>
                <a:latin typeface="Segoe UI"/>
              </a:rPr>
              <a:t>NOW → Month 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Community Building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0604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4320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Bhromon Insiders private FB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12464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Outreach to 80+ travel bloggers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8172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LinkedIn thought leadership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50992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Build 2,000-person waitlist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9856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Phase –1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CFFF"/>
                </a:solidFill>
                <a:latin typeface="Segoe UI"/>
              </a:rPr>
              <a:t>Month –4 →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Content Seeding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260604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274320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Recruit 30 Founding Explorers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3712464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Seed 300 TripLogs + 750 Pro-Tips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68172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15 university campuses, 150 ambassadors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5650992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Press: Prothom Alo, Daily Star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4224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64224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CFFF"/>
                </a:solidFill>
                <a:latin typeface="Segoe UI"/>
              </a:rPr>
              <a:t>Month 1–2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Public Beta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47104" y="260604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274320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7-day invite-only FOMO launch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3712464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30-Explorer coordinated reveal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468172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'Hidden BD' Instagram Reels series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5650992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Product Hunt for international 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08592" y="1298448"/>
            <a:ext cx="2788920" cy="534924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08592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7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91472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D88"/>
                </a:solidFill>
                <a:latin typeface="Segoe UI"/>
              </a:rPr>
              <a:t>Month 3–5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Growth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91472" y="2606040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91472" y="274320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Target: 10,000 MAU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3712464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2,000 user-generated TripLogs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1472" y="468172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First B2B partner sign-ups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5650992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University: Best Campus Explorer award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2761488" cy="521208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761488" cy="317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Flutter / Dart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8716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flutter_bloc — state 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38144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Hive — offline local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42816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MapLibre GL — map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47488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Riverpod — 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481328"/>
            <a:ext cx="2761488" cy="521208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481328"/>
            <a:ext cx="2761488" cy="31750"/>
          </a:xfrm>
          <a:prstGeom prst="rect">
            <a:avLst/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66420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121408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Firebase / GCP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48716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2633472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Cloud Firestore —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438144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Cloud Functions — 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242816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Firebase Auth +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047488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FCM push notifications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81328"/>
            <a:ext cx="2761488" cy="521208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481328"/>
            <a:ext cx="2761488" cy="31750"/>
          </a:xfrm>
          <a:prstGeom prst="rect">
            <a:avLst/>
          </a:prstGeom>
          <a:solidFill>
            <a:srgbClr val="4C2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166420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Maps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121408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OpenStreetMap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248716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633472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MapLibre GL tile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438144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Custom BD VPS tile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242816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Offline cache zoom 10–16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047488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GPS polyline recording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481328"/>
            <a:ext cx="2761488" cy="521208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1481328"/>
            <a:ext cx="2761488" cy="31750"/>
          </a:xfrm>
          <a:prstGeom prst="rect">
            <a:avLst/>
          </a:prstGeom>
          <a:solidFill>
            <a:srgbClr val="7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166420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2121408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GCP 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480" y="248716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2633472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Pub/Sub + Cloud Scheduler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3438144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Crashlytics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242816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OTA deployment CI/CD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5047488"/>
            <a:ext cx="23957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Segoe UI"/>
              </a:rPr>
              <a:t>— ~$1.11/mo at 10K MAU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ENGINEERING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Offline-First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Segoe UI"/>
              </a:rPr>
              <a:t>Signal is a privilege, not a prerequisite.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53312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166360" cy="512064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516636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FB950"/>
                </a:solidFill>
                <a:latin typeface="Segoe UI"/>
              </a:rPr>
              <a:t>ONE-TAP DISTRICT DOWNLOAD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965960"/>
            <a:ext cx="477316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1214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All LocationPins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395727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in district bounding 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7977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Full TripLog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0540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all blocks + compressed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4381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All Pro-Tips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712463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for every location in district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3308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0965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Pre-compressed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37083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max 800px · JPEG 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91455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75487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OSM tile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02919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zoom 10–16 · ~50 MB/district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498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41324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Offline write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6875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auto synced on reconnect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0819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607161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3-way merge dialog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634593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for conflict resolution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481328"/>
            <a:ext cx="5669280" cy="512064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1481328"/>
            <a:ext cx="566928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162763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C040"/>
                </a:solidFill>
                <a:latin typeface="Segoe UI"/>
              </a:rPr>
              <a:t>WHY THIS IS A MOAT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1965960"/>
            <a:ext cx="525780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2157984"/>
            <a:ext cx="292608" cy="292608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21579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12140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No competitor has done this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248716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TripAdvisor, Google Maps, and every BD travel app fails at Sajek, Sundarbans, and CHT — where Bhromon works best.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3730752"/>
            <a:ext cx="292608" cy="292608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37307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369417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The destinations that need it most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4059936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Nilgiri, Sajek, Tanguar Haor, Lawachara — Bangladesh's most spectacular destinations have zero 4G signal.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5303520"/>
            <a:ext cx="292608" cy="292608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9632" y="53035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5266944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Engineering barrier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5632704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Offline-first with Hive, CRDT-style conflict resolution, and tile caching takes 6–12 months to replicate. Competitors cannot copy quickly.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Development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77824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298448"/>
            <a:ext cx="2788920" cy="52578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D0FF"/>
                </a:solidFill>
                <a:latin typeface="Segoe UI"/>
              </a:rPr>
              <a:t>Month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Core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578608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15768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Verified Map + pin trust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65576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TripLog editor (all block types)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15384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Explorer Score 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65192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Offline Vault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150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Founding Explorer onboarding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1298448"/>
            <a:ext cx="2788920" cy="52578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9856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D0FF"/>
                </a:solidFill>
                <a:latin typeface="Segoe UI"/>
              </a:rPr>
              <a:t>Month 4–6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Community &amp; 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2578608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2715768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Pro-Tips Engine + decay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3465576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Community voting &amp; flagging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215384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Pioneer badge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4965192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University Ambassador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57150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Public beta 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4224" y="1298448"/>
            <a:ext cx="2788920" cy="52578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64224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7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D0FF"/>
                </a:solidFill>
                <a:latin typeface="Segoe UI"/>
              </a:rPr>
              <a:t>Month 7–9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Monetization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47104" y="2578608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2715768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Premium Guide marketplace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465576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bKash/Nagad payment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4215384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Partner Picks B2B portal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4965192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Regional Board pilot (CHT)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57150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Creator analytics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08592" y="1298448"/>
            <a:ext cx="2788920" cy="525780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08592" y="1298448"/>
            <a:ext cx="2788920" cy="1170432"/>
          </a:xfrm>
          <a:prstGeom prst="roundRect">
            <a:avLst>
              <a:gd name="adj" fmla="val 80000"/>
            </a:avLst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472" y="1353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17830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D0FF"/>
                </a:solidFill>
                <a:latin typeface="Segoe UI"/>
              </a:rPr>
              <a:t>Month 10–12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91472" y="2578608"/>
            <a:ext cx="2423160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1472" y="2715768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All 8 divisions covered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3465576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AI trip-planning 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4215384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Social features (follow/feed)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1472" y="4965192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Affiliate booking deep-links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571500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4292F"/>
                </a:solidFill>
                <a:latin typeface="Segoe UI"/>
              </a:rPr>
              <a:t>• Year 1 review + Series A prep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" y="6537960"/>
            <a:ext cx="11247120" cy="5486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912" y="6473952"/>
            <a:ext cx="164592" cy="16459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606A"/>
                </a:solidFill>
                <a:latin typeface="Segoe UI"/>
              </a:rPr>
              <a:t>Month 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6473952"/>
            <a:ext cx="164592" cy="16459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54679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606A"/>
                </a:solidFill>
                <a:latin typeface="Segoe UI"/>
              </a:rPr>
              <a:t>Month 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53327" y="6473952"/>
            <a:ext cx="164592" cy="16459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61888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606A"/>
                </a:solidFill>
                <a:latin typeface="Segoe UI"/>
              </a:rPr>
              <a:t>Month 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0536" y="6473952"/>
            <a:ext cx="164592" cy="16459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69096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606A"/>
                </a:solidFill>
                <a:latin typeface="Segoe UI"/>
              </a:rPr>
              <a:t>Month 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667744" y="6473952"/>
            <a:ext cx="164592" cy="16459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576304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7606A"/>
                </a:solidFill>
                <a:latin typeface="Segoe UI"/>
              </a:rPr>
              <a:t>Month 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Founding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715000" cy="512064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5715000" cy="317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691640"/>
            <a:ext cx="804672" cy="80467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9164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MR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719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M. S. RANA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94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CEO &amp; Product Lead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633472"/>
            <a:ext cx="5285232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24912"/>
            <a:ext cx="5285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Responsibilities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63240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Platform vision &amp; long-term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0168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Fundraising &amp; investor 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197096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Partnership development &amp; Tourism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64024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Product design &amp; UX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330952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Community building &amp; founder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897880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Marketing, press &amp; public narrative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1481328"/>
            <a:ext cx="5715000" cy="512064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59" y="1481328"/>
            <a:ext cx="5715000" cy="31750"/>
          </a:xfrm>
          <a:prstGeom prst="rect">
            <a:avLst/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93992" y="1691640"/>
            <a:ext cx="804672" cy="804672"/>
          </a:xfrm>
          <a:prstGeom prst="roundRect">
            <a:avLst>
              <a:gd name="adj" fmla="val 80000"/>
            </a:avLst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169164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719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IZHAAN INTELLECT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194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9E"/>
                </a:solidFill>
                <a:latin typeface="Segoe UI"/>
              </a:rPr>
              <a:t>Co-Founder &amp; CTO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93992" y="2633472"/>
            <a:ext cx="5285232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2724912"/>
            <a:ext cx="5285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063240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Flutter architecture &amp; offline-first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3630168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Firebase Firestore + Cloud Functions (Go)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4197096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MapLibre GL engine &amp; offline tile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764024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CI/CD pipeline &amp; OTA deployment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5330952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Security architecture &amp; Firestore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5897880"/>
            <a:ext cx="5321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— Infrastructure scaling &amp; cost optimization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510528"/>
            <a:ext cx="11109960" cy="27432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11109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B949E"/>
                </a:solidFill>
                <a:latin typeface="Segoe UI"/>
              </a:rPr>
              <a:t>Year 1 Hires:  Community Manager (Month 3)  ·  Bengali Content Moderator (Month 4)  ·  Backend Engineer (Month 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Risk Analysis &amp;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77824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650992" cy="17373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39"/>
            <a:ext cx="658368" cy="274320"/>
          </a:xfrm>
          <a:prstGeom prst="roundRect">
            <a:avLst>
              <a:gd name="adj" fmla="val 80000"/>
            </a:avLst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39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5389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Segoe UI"/>
              </a:rPr>
              <a:t>Cold Start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56231"/>
            <a:ext cx="5285232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5285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300 TripLogs seeded pre-launch. 30 Founding Explorers provide quality Day 1 content.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1325880"/>
            <a:ext cx="5650992" cy="17373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1968" y="1463039"/>
            <a:ext cx="658368" cy="274320"/>
          </a:xfrm>
          <a:prstGeom prst="roundRect">
            <a:avLst>
              <a:gd name="adj" fmla="val 80000"/>
            </a:avLst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463039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4292F"/>
                </a:solidFill>
                <a:latin typeface="Segoe UI"/>
              </a:rPr>
              <a:t>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145389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Segoe UI"/>
              </a:rPr>
              <a:t>Low Digital Payment Adoption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1856231"/>
            <a:ext cx="5285232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984248"/>
            <a:ext cx="5285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Multiple options: bKash, Nagad, Rocket, VISA. Micro-pricing BDT 99. B2B de-risks B2C.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5650992" cy="17373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658368" cy="274320"/>
          </a:xfrm>
          <a:prstGeom prst="roundRect">
            <a:avLst>
              <a:gd name="adj" fmla="val 80000"/>
            </a:avLst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4292F"/>
                </a:solidFill>
                <a:latin typeface="Segoe UI"/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Segoe UI"/>
              </a:rPr>
              <a:t>CHT Content Sensitivity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30752"/>
            <a:ext cx="5285232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58768"/>
            <a:ext cx="5285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Factual travel data only. Legal review for CHT content. No political commentary permitted.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3200400"/>
            <a:ext cx="5650992" cy="17373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1968" y="3337560"/>
            <a:ext cx="658368" cy="274320"/>
          </a:xfrm>
          <a:prstGeom prst="roundRect">
            <a:avLst>
              <a:gd name="adj" fmla="val 80000"/>
            </a:avLst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3375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4292F"/>
                </a:solidFill>
                <a:latin typeface="Segoe UI"/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Segoe UI"/>
              </a:rPr>
              <a:t>Bengali Moderation at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3730752"/>
            <a:ext cx="5285232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858768"/>
            <a:ext cx="5285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BD moderators hired Month 4. AI pre-screening + keyword flags + fast-path escalation.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5650992" cy="17373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212080"/>
            <a:ext cx="658368" cy="274320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21208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52029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Segoe UI"/>
              </a:rPr>
              <a:t>Competitor Entry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605272"/>
            <a:ext cx="5285232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33288"/>
            <a:ext cx="5285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12-month head start + seeded knowledge graph = durable moat. Offline vault = technical barrier.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9088" y="5074920"/>
            <a:ext cx="5650992" cy="1737360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01968" y="5212080"/>
            <a:ext cx="658368" cy="274320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521208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52029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Segoe UI"/>
              </a:rPr>
              <a:t>Monetization Friction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01968" y="5605272"/>
            <a:ext cx="5285232" cy="635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733288"/>
            <a:ext cx="5285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7606A"/>
                </a:solidFill>
                <a:latin typeface="Segoe UI"/>
              </a:rPr>
              <a:t>B2B Partner Picks provide stable baseline. Regional grants offer non-commercial income stream.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Social Impact &amp;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Segoe UI"/>
              </a:rPr>
              <a:t>Bhromon is designed to generate value beyond financial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53312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650992" cy="157276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45720" cy="15727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18488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Preserving Local Knowledge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002536"/>
            <a:ext cx="523036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30552"/>
            <a:ext cx="5230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Creates permanent, attributed records of local guides' irreplaceable trail, seasonal, and cultural knowledge — before it's lost forever.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508760"/>
            <a:ext cx="5650992" cy="157276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508760"/>
            <a:ext cx="45720" cy="157276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18488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Economic Uplift for Communities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002536"/>
            <a:ext cx="523036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130552"/>
            <a:ext cx="5230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Local guides, eco-resorts, and responsible operators gain digital visibility — bypassing middlemen that extract value from communities.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5650992" cy="157276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45720" cy="157276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355848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Traveler Safety at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3739896"/>
            <a:ext cx="523036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67911"/>
            <a:ext cx="5230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Crowdsourced safety flags for road conditions, flood zones, and unstable bridges — information that prevents injuries and saves lives.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3246120"/>
            <a:ext cx="5650992" cy="157276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9088" y="3246120"/>
            <a:ext cx="45720" cy="15727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355848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Youth Employment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739896"/>
            <a:ext cx="523036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867911"/>
            <a:ext cx="5230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University Ambassador program and Premium Guide marketplace create real income for young Bangladeshis who monetize local expertise.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83479"/>
            <a:ext cx="5650992" cy="157276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983479"/>
            <a:ext cx="45720" cy="157276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093207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Evidence-Based Tourism Policy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" y="5477255"/>
            <a:ext cx="523036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605271"/>
            <a:ext cx="5230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Aggregated, anonymized traveler data helps Bangladesh Tourism Board make evidence-based infrastructure investment decisions.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4983479"/>
            <a:ext cx="5650992" cy="157276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19088" y="4983479"/>
            <a:ext cx="45720" cy="15727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093207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Responsible Tourism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477255"/>
            <a:ext cx="523036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605271"/>
            <a:ext cx="5230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1D9"/>
                </a:solidFill>
                <a:latin typeface="Segoe UI"/>
              </a:rPr>
              <a:t>Routes travelers to community-verified off-beaten destinations, distributing tourist spend more equitably across Bangladesh's regions.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Segoe UI"/>
              </a:rPr>
              <a:t>PRE-SEED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June 2026  ·  6-month runway to 50,000 MAU public 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10512"/>
            <a:ext cx="10808208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82296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0C040"/>
                </a:solidFill>
                <a:latin typeface="Segoe UI"/>
              </a:rPr>
              <a:t>$75,000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Segoe UI"/>
              </a:rPr>
              <a:t>≈ BDT 82,00,000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41648"/>
            <a:ext cx="3456432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041648"/>
            <a:ext cx="3456432" cy="457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5137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C040"/>
                </a:solidFill>
                <a:latin typeface="Segoe UI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206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Segoe UI"/>
              </a:rPr>
              <a:t>$30,000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041648"/>
            <a:ext cx="3456432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4041648"/>
            <a:ext cx="3456432" cy="45720"/>
          </a:xfrm>
          <a:prstGeom prst="rect">
            <a:avLst/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15137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C040"/>
                </a:solidFill>
                <a:latin typeface="Segoe UI"/>
              </a:rPr>
              <a:t>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206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Segoe UI"/>
              </a:rPr>
              <a:t>$13,000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636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5047488"/>
            <a:ext cx="3456432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5047488"/>
            <a:ext cx="3456432" cy="45720"/>
          </a:xfrm>
          <a:prstGeom prst="rect">
            <a:avLst/>
          </a:prstGeom>
          <a:solidFill>
            <a:srgbClr val="4C2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51572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C040"/>
                </a:solidFill>
                <a:latin typeface="Segoe UI"/>
              </a:rPr>
              <a:t>16%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52120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Segoe UI"/>
              </a:rPr>
              <a:t>$12,000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56418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Content Seed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047488"/>
            <a:ext cx="3456432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047488"/>
            <a:ext cx="3456432" cy="45720"/>
          </a:xfrm>
          <a:prstGeom prst="rect">
            <a:avLst/>
          </a:prstGeom>
          <a:solidFill>
            <a:srgbClr val="7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572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C040"/>
                </a:solidFill>
                <a:latin typeface="Segoe UI"/>
              </a:rPr>
              <a:t>13%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2120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Segoe UI"/>
              </a:rPr>
              <a:t>$10,000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418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6053328"/>
            <a:ext cx="3456432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6053328"/>
            <a:ext cx="3456432" cy="45720"/>
          </a:xfrm>
          <a:prstGeom prst="rect">
            <a:avLst/>
          </a:prstGeom>
          <a:solidFill>
            <a:srgbClr val="44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616305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C040"/>
                </a:solidFill>
                <a:latin typeface="Segoe UI"/>
              </a:rPr>
              <a:t>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6217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Segoe UI"/>
              </a:rPr>
              <a:t>$5,000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647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Legal &amp; Corp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6053328"/>
            <a:ext cx="3456432" cy="896112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ln>
            <a:noFill/>
          </a:ln>
          <a:effectLst>
            <a:outerShdw blurRad="304800" dist="152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09560" y="6053328"/>
            <a:ext cx="3456432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616305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C040"/>
                </a:solidFill>
                <a:latin typeface="Segoe UI"/>
              </a:rPr>
              <a:t>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6217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Segoe UI"/>
              </a:rPr>
              <a:t>$5,000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6647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Segoe UI"/>
              </a:rPr>
              <a:t>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583680"/>
            <a:ext cx="10808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8B949E"/>
                </a:solidFill>
                <a:latin typeface="Segoe UI"/>
              </a:rPr>
              <a:t>Equity structure, cap table, and detailed financials available on request.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F37"/>
                </a:solidFill>
                <a:latin typeface="Segoe UI"/>
              </a:rPr>
              <a:t>INVESTMENT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4292F"/>
                </a:solidFill>
                <a:latin typeface="Segoe UI"/>
              </a:rPr>
              <a:t>Investor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778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7606A"/>
                </a:solidFill>
                <a:latin typeface="Segoe UI"/>
              </a:rPr>
              <a:t>Why Bhromon is the right bet, at the right time, in the right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09960" cy="9525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3703320" cy="2542032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703320" cy="987552"/>
          </a:xfrm>
          <a:prstGeom prst="roundRect">
            <a:avLst>
              <a:gd name="adj" fmla="val 80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435607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First-Mover
in a Defined 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9572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Segoe UI"/>
              </a:rPr>
              <a:t>No structured travel intelligence platform for Bangladesh. 20M travelers, zero structured competitor. Network effects in content platforms are extremely durable.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7" y="1298448"/>
            <a:ext cx="3703320" cy="2542032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1298448"/>
            <a:ext cx="3703320" cy="987552"/>
          </a:xfrm>
          <a:prstGeom prst="roundRect">
            <a:avLst>
              <a:gd name="adj" fmla="val 80000"/>
            </a:avLst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5" y="1435607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Defensible
Technical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239572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Segoe UI"/>
              </a:rPr>
              <a:t>Offline-first architecture + seeded content graph creates a multi-year barrier to replication. The knowledge graph compounds exponentially with each TripLog.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6" y="4023360"/>
            <a:ext cx="3703320" cy="2542032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1896" y="4023360"/>
            <a:ext cx="3703320" cy="987552"/>
          </a:xfrm>
          <a:prstGeom prst="roundRect">
            <a:avLst>
              <a:gd name="adj" fmla="val 80000"/>
            </a:avLst>
          </a:prstGeom>
          <a:solidFill>
            <a:srgbClr val="4C2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416052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Aligned
Incentive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51206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Segoe UI"/>
              </a:rPr>
              <a:t>All revenue streams — Partner Picks, Premium Guides, Regional Grants — are structurally aligned with quality and community trust. Revenue and integrity reinforce each other.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3703320" cy="2542032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23360"/>
            <a:ext cx="3703320" cy="987552"/>
          </a:xfrm>
          <a:prstGeom prst="roundRect">
            <a:avLst>
              <a:gd name="adj" fmla="val 80000"/>
            </a:avLst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16052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Bangladesh
Macro Tailwinds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1206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Segoe UI"/>
              </a:rPr>
              <a:t>Rising GDP, expanding 4G, government tourism investment, and maturing Gen Z travel culture create a decade of growing digital travel demand.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7" y="6748272"/>
            <a:ext cx="3703320" cy="2542032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7" y="6748272"/>
            <a:ext cx="3703320" cy="987552"/>
          </a:xfrm>
          <a:prstGeom prst="roundRect">
            <a:avLst>
              <a:gd name="adj" fmla="val 80000"/>
            </a:avLst>
          </a:prstGeom>
          <a:solidFill>
            <a:srgbClr val="7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5" y="688543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Lean &amp;
Capital-Efficient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5" y="7845552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Segoe UI"/>
              </a:rPr>
              <a:t>$75K buys 6-month runway to 50K MAU. Infrastructure: $1.11/month at 10K MAU. Team shipped to v1.4 demonstrating execution before asking for capital.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1896" y="6748272"/>
            <a:ext cx="3703320" cy="2542032"/>
          </a:xfrm>
          <a:prstGeom prst="roundRect">
            <a:avLst>
              <a:gd name="adj" fmla="val 80000"/>
            </a:avLst>
          </a:prstGeom>
          <a:solidFill>
            <a:srgbClr val="FFFFFF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1896" y="6748272"/>
            <a:ext cx="3703320" cy="987552"/>
          </a:xfrm>
          <a:prstGeom prst="roundRect">
            <a:avLst>
              <a:gd name="adj" fmla="val 80000"/>
            </a:avLst>
          </a:prstGeom>
          <a:solidFill>
            <a:srgbClr val="44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688543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Replicable
Regional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064" y="7845552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Segoe UI"/>
              </a:rPr>
              <a:t>The same geospatial community-knowledge-graph applies to Nepal, Myanmar, Sri Lanka, and Southeast Asia. Bangladesh is the proof-of-concept for a regional platform.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09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2761488" cy="513892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2761488" cy="317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2140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MAU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10K / 30K / 150K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63824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Year 1 / 2 /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29584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TripLogs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33088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300 → 5K / 20K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3659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Pre-launch → Yr1/Yr2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02352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8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D30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05856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&gt; 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0936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Industry avg: 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481328"/>
            <a:ext cx="2761488" cy="513892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1481328"/>
            <a:ext cx="2761488" cy="31750"/>
          </a:xfrm>
          <a:prstGeom prst="rect">
            <a:avLst/>
          </a:prstGeom>
          <a:solidFill>
            <a:srgbClr val="035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164592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12140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26771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Total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2560320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$10K / $55K / $170K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163824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Year 1 / 2 /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529584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84048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Guide GMV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133088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$10K / $75K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73659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Year 2 / Year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5102352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5413248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B2B Partners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705856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10 / 30 / 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630936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Year 1 / 2 /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481328"/>
            <a:ext cx="2761488" cy="513892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481328"/>
            <a:ext cx="2761488" cy="31750"/>
          </a:xfrm>
          <a:prstGeom prst="rect">
            <a:avLst/>
          </a:prstGeom>
          <a:solidFill>
            <a:srgbClr val="4C2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164592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Quality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212140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26771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Completeness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560320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&gt; 85%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163824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Gate enforced by design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529584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84048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Tip Freshness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133088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&gt; 70% Fresh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73659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&lt; 30d confirmed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5102352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5413248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NPS 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705856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&gt; 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630936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Promoter-grade target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1481328"/>
            <a:ext cx="2761488" cy="5138928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6880" y="1481328"/>
            <a:ext cx="2761488" cy="31750"/>
          </a:xfrm>
          <a:prstGeom prst="rect">
            <a:avLst/>
          </a:prstGeom>
          <a:solidFill>
            <a:srgbClr val="7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1645920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Trust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2121408"/>
            <a:ext cx="2304288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5480" y="226771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Flag Response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2560320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&lt; 4 hrs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3163824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Avg resolution time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5480" y="3529584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55480" y="384048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False Content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5480" y="4133088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&lt; 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4736592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Post-moderation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5480" y="5102352"/>
            <a:ext cx="2304288" cy="381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5480" y="5413248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Segoe UI"/>
              </a:rPr>
              <a:t>Pioneers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5705856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egoe UI"/>
              </a:rPr>
              <a:t>30 → 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5480" y="6309360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Segoe UI"/>
              </a:rPr>
              <a:t>Launch → Year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631168" y="6583680"/>
            <a:ext cx="502920" cy="201168"/>
          </a:xfrm>
          <a:prstGeom prst="roundRect">
            <a:avLst>
              <a:gd name="adj" fmla="val 80000"/>
            </a:avLst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631168" y="6583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  <a:latin typeface="Segoe U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D1117"/>
              </a:gs>
              <a:gs pos="100000">
                <a:srgbClr val="161B2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841248"/>
            <a:ext cx="1627632" cy="1627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240280"/>
            <a:ext cx="7772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Segoe UI"/>
              </a:rPr>
              <a:t>BHROMON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39312"/>
            <a:ext cx="640080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76732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B949E"/>
                </a:solidFill>
                <a:latin typeface="Segoe UI"/>
              </a:rPr>
              <a:t>Community-Driven Travel Intelligence Platform for Bangladeshi Explorers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4370832"/>
            <a:ext cx="6400800" cy="1463040"/>
          </a:xfrm>
          <a:prstGeom prst="roundRect">
            <a:avLst>
              <a:gd name="adj" fmla="val 80000"/>
            </a:avLst>
          </a:prstGeom>
          <a:solidFill>
            <a:srgbClr val="161B22"/>
          </a:solidFill>
          <a:effectLst>
            <a:outerShdw blurRad="304800" dist="152400" dir="5400000" rotWithShape="0">
              <a:srgbClr val="000000">
                <a:alpha val="25000"/>
              </a:srgbClr>
            </a:outerShdw>
          </a:effectLst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4370832"/>
            <a:ext cx="640080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449884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M. S. Rana  ·  CEO &amp; Product Lead     |     Izhaan Intellect  ·  Co-Founder &amp; 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892040"/>
            <a:ext cx="5852160" cy="63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5010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9D1D9"/>
                </a:solidFill>
                <a:latin typeface="Segoe UI"/>
              </a:rPr>
              <a:t>📧  mybhromon@gmail.com   ·   📱  01762033445   ·   🌐  bhromon.fun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  <a:latin typeface="Segoe UI"/>
              </a:rPr>
              <a:t>"We are not a marketplace. We are the map, the guide, and the trusted companion."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6446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  <a:latin typeface="Segoe U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