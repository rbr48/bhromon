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78" y="-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62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-1828800"/>
            <a:ext cx="5852160" cy="5852160"/>
          </a:xfrm>
          <a:prstGeom prst="ellipse">
            <a:avLst/>
          </a:prstGeom>
          <a:solidFill>
            <a:srgbClr val="2D6A4F">
              <a:alpha val="38000"/>
            </a:srgbClr>
          </a:solidFill>
          <a:ln w="12700">
            <a:solidFill>
              <a:srgbClr val="2D6A4F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291840"/>
            <a:ext cx="4023360" cy="402336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74C6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TVC STORYBOARD &amp; PRODUCTION SCRIPT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1143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“We Have The Map”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60-second brand film for Bhromon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046720" cy="0"/>
          </a:xfrm>
          <a:prstGeom prst="line">
            <a:avLst/>
          </a:prstGeom>
          <a:noFill/>
          <a:ln w="9525">
            <a:solidFill>
              <a:srgbClr val="40916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74C6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RUNTIME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9809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60s (+ :30 / :15 cut-downs)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74C6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29809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Sajek Valley, CHT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74C6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63440" y="29809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Cinematic, observational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2084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74C6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LANGUAGE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20840" y="29809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Bengali primary, EN sub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703320"/>
            <a:ext cx="8046720" cy="0"/>
          </a:xfrm>
          <a:prstGeom prst="line">
            <a:avLst/>
          </a:prstGeom>
          <a:noFill/>
          <a:ln w="6350">
            <a:solidFill>
              <a:srgbClr val="40916C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Logline: A traveler loses signal deep in the hills — and discovers the app doesn't need it. Every pin was placed by someone who stood exactly where she's standing.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/ 14</a:t>
            </a:r>
            <a:endParaRPr lang="en-US" sz="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7756E5-0940-9FE1-42E9-C47C174F6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364" y="619223"/>
            <a:ext cx="1187036" cy="11870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CREATIVE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emotional arc, four beats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874520" cy="1188720"/>
          </a:xfrm>
          <a:prstGeom prst="rect">
            <a:avLst/>
          </a:prstGeom>
          <a:solidFill>
            <a:srgbClr val="2A3A52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9092"/>
            <a:ext cx="1874520" cy="772668"/>
          </a:xfrm>
          <a:prstGeom prst="rect">
            <a:avLst/>
          </a:prstGeom>
          <a:solidFill>
            <a:srgbClr val="C77B53">
              <a:alpha val="85000"/>
            </a:srgbClr>
          </a:solidFill>
          <a:ln w="12700">
            <a:solidFill>
              <a:srgbClr val="C77B5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18918"/>
            <a:ext cx="1874520" cy="33284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Anxiety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12724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Signal drops mid-journey — the unknown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1828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51760" y="1463040"/>
            <a:ext cx="1874520" cy="1188720"/>
          </a:xfrm>
          <a:prstGeom prst="rect">
            <a:avLst/>
          </a:prstGeom>
          <a:solidFill>
            <a:srgbClr val="5B8FA8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879092"/>
            <a:ext cx="1874520" cy="772668"/>
          </a:xfrm>
          <a:prstGeom prst="rect">
            <a:avLst/>
          </a:prstGeom>
          <a:solidFill>
            <a:srgbClr val="A9D6C8">
              <a:alpha val="85000"/>
            </a:srgbClr>
          </a:solidFill>
          <a:ln w="12700">
            <a:solidFill>
              <a:srgbClr val="A9D6C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2318918"/>
            <a:ext cx="1874520" cy="33284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Relief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312724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 already knew the way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1828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1874520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879092"/>
            <a:ext cx="1874520" cy="772668"/>
          </a:xfrm>
          <a:prstGeom prst="rect">
            <a:avLst/>
          </a:prstGeom>
          <a:solidFill>
            <a:srgbClr val="FFD56B">
              <a:alpha val="85000"/>
            </a:srgbClr>
          </a:solidFill>
          <a:ln w="12700">
            <a:solidFill>
              <a:srgbClr val="FFD56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18918"/>
            <a:ext cx="1874520" cy="33284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Wonder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12724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view that was worth the risk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1828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58000" y="1463040"/>
            <a:ext cx="18745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1879092"/>
            <a:ext cx="1874520" cy="772668"/>
          </a:xfrm>
          <a:prstGeom prst="rect">
            <a:avLst/>
          </a:prstGeom>
          <a:solidFill>
            <a:srgbClr val="1B3A5C">
              <a:alpha val="85000"/>
            </a:srgbClr>
          </a:solidFill>
          <a:ln w="12700">
            <a:solidFill>
              <a:srgbClr val="1B3A5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Belonging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312724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She gives back what she learned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EAF1EA"/>
          </a:solidFill>
          <a:ln w="9525">
            <a:solidFill>
              <a:srgbClr val="74C69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0690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i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film never says “offline-first.” It shows a girl whose app keeps working when everything else stops — then lets the name explain itself.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SHOT 1–2 OF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Storyboard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783080"/>
          </a:xfrm>
          <a:prstGeom prst="rect">
            <a:avLst/>
          </a:prstGeom>
          <a:solidFill>
            <a:srgbClr val="2A3A52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58518"/>
            <a:ext cx="3931920" cy="1159002"/>
          </a:xfrm>
          <a:prstGeom prst="rect">
            <a:avLst/>
          </a:prstGeom>
          <a:solidFill>
            <a:srgbClr val="C77B53">
              <a:alpha val="85000"/>
            </a:srgbClr>
          </a:solidFill>
          <a:ln w="12700">
            <a:solidFill>
              <a:srgbClr val="C77B5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8258"/>
            <a:ext cx="3931920" cy="49926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331720"/>
            <a:ext cx="1463040" cy="640080"/>
          </a:xfrm>
          <a:prstGeom prst="ellipse">
            <a:avLst/>
          </a:prstGeom>
          <a:solidFill>
            <a:srgbClr val="12241B">
              <a:alpha val="65000"/>
            </a:srgbClr>
          </a:solidFill>
          <a:ln w="12700">
            <a:solidFill>
              <a:srgbClr val="12241B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2240280"/>
            <a:ext cx="1828800" cy="731520"/>
          </a:xfrm>
          <a:prstGeom prst="ellipse">
            <a:avLst/>
          </a:prstGeom>
          <a:solidFill>
            <a:srgbClr val="12241B">
              <a:alpha val="70000"/>
            </a:srgbClr>
          </a:solidFill>
          <a:ln w="12700">
            <a:solidFill>
              <a:srgbClr val="12241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0:00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Aerial — the road to nowhere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Wide aerial: a CNG winds up a misty hill road at dawn. Title card: “Sajek Valley, 3:40 AM.”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(silence, then) low ambient wind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3931920" cy="1783080"/>
          </a:xfrm>
          <a:prstGeom prst="rect">
            <a:avLst/>
          </a:prstGeom>
          <a:solidFill>
            <a:srgbClr val="2A3A52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58518"/>
            <a:ext cx="3931920" cy="1159002"/>
          </a:xfrm>
          <a:prstGeom prst="rect">
            <a:avLst/>
          </a:prstGeom>
          <a:solidFill>
            <a:srgbClr val="C77B53">
              <a:alpha val="85000"/>
            </a:srgbClr>
          </a:solidFill>
          <a:ln w="12700">
            <a:solidFill>
              <a:srgbClr val="C77B5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518258"/>
            <a:ext cx="3931920" cy="49926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604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0:04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4632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signal drops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Inside the CNG, Shefali glances at her phone. One signal bar flickers, then disappears. She stays calm — taps the screen.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 UI tap sound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SHOT 3–4 OF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Storyboard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783080"/>
          </a:xfrm>
          <a:prstGeom prst="rect">
            <a:avLst/>
          </a:prstGeom>
          <a:solidFill>
            <a:srgbClr val="2A3A52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58518"/>
            <a:ext cx="3931920" cy="1159002"/>
          </a:xfrm>
          <a:prstGeom prst="rect">
            <a:avLst/>
          </a:prstGeom>
          <a:solidFill>
            <a:srgbClr val="C77B53">
              <a:alpha val="85000"/>
            </a:srgbClr>
          </a:solidFill>
          <a:ln w="12700">
            <a:solidFill>
              <a:srgbClr val="C77B5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8258"/>
            <a:ext cx="3931920" cy="49926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0:08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map opens anyway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 on phone: Bhromon map loads instantly. No spinner, no error. A Pro-Tip card slides up: “Blue CNG only — BDT 120. Confirmed 2 days ago.”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VO: “Some of the best places in Bangladesh don't have signal.”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3931920" cy="1783080"/>
          </a:xfrm>
          <a:prstGeom prst="rect">
            <a:avLst/>
          </a:prstGeom>
          <a:solidFill>
            <a:srgbClr val="2A3A52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58518"/>
            <a:ext cx="3931920" cy="1159002"/>
          </a:xfrm>
          <a:prstGeom prst="rect">
            <a:avLst/>
          </a:prstGeom>
          <a:solidFill>
            <a:srgbClr val="C77B53">
              <a:alpha val="85000"/>
            </a:srgbClr>
          </a:solidFill>
          <a:ln w="12700">
            <a:solidFill>
              <a:srgbClr val="C77B5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518258"/>
            <a:ext cx="3931920" cy="49926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0:13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4632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unmarked fork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CNG stops where no map agrees. Shefali shows the driver a hand-drawn route overlay: “Left fork washed out — take right, locals only.”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VO: “So we built one that doesn't need it.”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SHOT 5–6 OF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Storyboard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783080"/>
          </a:xfrm>
          <a:prstGeom prst="rect">
            <a:avLst/>
          </a:prstGeom>
          <a:solidFill>
            <a:srgbClr val="5B8FA8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58518"/>
            <a:ext cx="3931920" cy="1159002"/>
          </a:xfrm>
          <a:prstGeom prst="rect">
            <a:avLst/>
          </a:prstGeom>
          <a:solidFill>
            <a:srgbClr val="A9D6C8">
              <a:alpha val="85000"/>
            </a:srgbClr>
          </a:solidFill>
          <a:ln w="12700">
            <a:solidFill>
              <a:srgbClr val="A9D6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8258"/>
            <a:ext cx="3931920" cy="49926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0:18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Through the fog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 montage: wheels through mud, fog parting, glimpses of the valley below. Music begins — soft acoustic, building.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Tires on dirt, light rain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3931920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58518"/>
            <a:ext cx="3931920" cy="1159002"/>
          </a:xfrm>
          <a:prstGeom prst="rect">
            <a:avLst/>
          </a:prstGeom>
          <a:solidFill>
            <a:srgbClr val="FFD56B">
              <a:alpha val="85000"/>
            </a:srgbClr>
          </a:solidFill>
          <a:ln w="12700">
            <a:solidFill>
              <a:srgbClr val="FFD56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518258"/>
            <a:ext cx="3931920" cy="49926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2423160"/>
            <a:ext cx="1280160" cy="548640"/>
          </a:xfrm>
          <a:prstGeom prst="ellipse">
            <a:avLst/>
          </a:prstGeom>
          <a:solidFill>
            <a:srgbClr val="12241B">
              <a:alpha val="80000"/>
            </a:srgbClr>
          </a:solidFill>
          <a:ln w="12700">
            <a:solidFill>
              <a:srgbClr val="12241B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286000"/>
            <a:ext cx="1645920" cy="685800"/>
          </a:xfrm>
          <a:prstGeom prst="ellipse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2377440"/>
            <a:ext cx="1188720" cy="548640"/>
          </a:xfrm>
          <a:prstGeom prst="ellipse">
            <a:avLst/>
          </a:prstGeom>
          <a:solidFill>
            <a:srgbClr val="12241B">
              <a:alpha val="80000"/>
            </a:srgbClr>
          </a:solidFill>
          <a:ln w="12700">
            <a:solidFill>
              <a:srgbClr val="12241B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0:24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4632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reveal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Golden hour. The CNG crests the hill. Full wide shot of Sajek Valley — clouds rolling below like a second sky. Shefali steps out, phone still in hand.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VO: “Every pin on this map was placed by someone who stood exactly where you're standing.”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SHOT 7–8 OF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Storyboard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58518"/>
            <a:ext cx="3931920" cy="1159002"/>
          </a:xfrm>
          <a:prstGeom prst="rect">
            <a:avLst/>
          </a:prstGeom>
          <a:solidFill>
            <a:srgbClr val="FFD56B">
              <a:alpha val="85000"/>
            </a:srgbClr>
          </a:solidFill>
          <a:ln w="12700">
            <a:solidFill>
              <a:srgbClr val="FFD56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8258"/>
            <a:ext cx="3931920" cy="49926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0:30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 places the pins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quick cutaways (2s each): a farmer photographing a trail marker · a boy on a Tanguar Haor boat voice-noting water depth · hands typing a cost breakdown into the TripLog editor.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VO: “Not an algorithm. Not a sponsor. A stranger who came back and told the truth.”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3931920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58518"/>
            <a:ext cx="3931920" cy="1159002"/>
          </a:xfrm>
          <a:prstGeom prst="rect">
            <a:avLst/>
          </a:prstGeom>
          <a:solidFill>
            <a:srgbClr val="FFD56B">
              <a:alpha val="85000"/>
            </a:srgbClr>
          </a:solidFill>
          <a:ln w="12700">
            <a:solidFill>
              <a:srgbClr val="FFD56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518258"/>
            <a:ext cx="3931920" cy="49926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0:36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4632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Giving something back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Shefali opens the editor at the viewpoint, types a Pro-Tip: “Sunrise side is better — 200m further, no crowd.” Taps Publish. Screen: “Saved — will sync when you're back online.”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VO: “You don't need a connection to give something back.”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SHOT 9–10 OF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Storyboard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58518"/>
            <a:ext cx="3931920" cy="1159002"/>
          </a:xfrm>
          <a:prstGeom prst="rect">
            <a:avLst/>
          </a:prstGeom>
          <a:solidFill>
            <a:srgbClr val="1B3A5C">
              <a:alpha val="85000"/>
            </a:srgbClr>
          </a:solidFill>
          <a:ln w="12700">
            <a:solidFill>
              <a:srgbClr val="1B3A5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0:42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Three days later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Dhaka rooftop, night. Phone buzzes: “Your tip helped 47 explorers this week. Score: Verified ✓.” A small, private smile.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VO: “Three days later, forty-seven people needed exactly what you knew.”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3931920" cy="1783080"/>
          </a:xfrm>
          <a:prstGeom prst="rect">
            <a:avLst/>
          </a:prstGeom>
          <a:solidFill>
            <a:srgbClr val="5B8FA8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858518"/>
            <a:ext cx="3931920" cy="1159002"/>
          </a:xfrm>
          <a:prstGeom prst="rect">
            <a:avLst/>
          </a:prstGeom>
          <a:solidFill>
            <a:srgbClr val="A9D6C8">
              <a:alpha val="85000"/>
            </a:srgbClr>
          </a:solidFill>
          <a:ln w="12700">
            <a:solidFill>
              <a:srgbClr val="A9D6C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518258"/>
            <a:ext cx="3931920" cy="499262"/>
          </a:xfrm>
          <a:prstGeom prst="rect">
            <a:avLst/>
          </a:prstGeom>
          <a:solidFill>
            <a:srgbClr val="12241B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234440"/>
            <a:ext cx="914400" cy="1783080"/>
          </a:xfrm>
          <a:prstGeom prst="rect">
            <a:avLst/>
          </a:prstGeom>
          <a:solidFill>
            <a:srgbClr val="5B8FA8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0448" y="1234440"/>
            <a:ext cx="914400" cy="1783080"/>
          </a:xfrm>
          <a:prstGeom prst="rect">
            <a:avLst/>
          </a:prstGeom>
          <a:solidFill>
            <a:srgbClr val="A9D6C8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48856" y="1234440"/>
            <a:ext cx="914400" cy="1783080"/>
          </a:xfrm>
          <a:prstGeom prst="rect">
            <a:avLst/>
          </a:prstGeom>
          <a:solidFill>
            <a:srgbClr val="5B8FA8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27264" y="1234440"/>
            <a:ext cx="914400" cy="1783080"/>
          </a:xfrm>
          <a:prstGeom prst="rect">
            <a:avLst/>
          </a:prstGeom>
          <a:solidFill>
            <a:srgbClr val="A9D6C8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0:47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4632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Bangladesh, all at once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Rapid 1-second cuts: Sundarbans mangrove channel · Sylhet tea rows at dawn · Cox's Bazar low tide · Bandarban bridge. A pin animates onto each frame.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Music peaks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SHOT 11–12 OF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Storyboard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58518"/>
            <a:ext cx="3931920" cy="1159002"/>
          </a:xfrm>
          <a:prstGeom prst="rect">
            <a:avLst/>
          </a:prstGeom>
          <a:solidFill>
            <a:srgbClr val="1B3A5C">
              <a:alpha val="85000"/>
            </a:srgbClr>
          </a:solidFill>
          <a:ln w="12700">
            <a:solidFill>
              <a:srgbClr val="1B3A5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0:53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mark assembles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compass logo forms from eight light trails — echoing the pins from the montage. Wordmark settles: BHROMON. Bengali subtitle fades in: ভ্রমণ.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VO: “Bhromon. Built by explorers. Trusted by explorers.”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393192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224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858518"/>
            <a:ext cx="3931920" cy="1159002"/>
          </a:xfrm>
          <a:prstGeom prst="rect">
            <a:avLst/>
          </a:prstGeom>
          <a:solidFill>
            <a:srgbClr val="1B3A5C">
              <a:alpha val="85000"/>
            </a:srgbClr>
          </a:solidFill>
          <a:ln w="12700">
            <a:solidFill>
              <a:srgbClr val="1B3A5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56048" y="1344168"/>
            <a:ext cx="384048" cy="384048"/>
          </a:xfrm>
          <a:prstGeom prst="ellipse">
            <a:avLst/>
          </a:prstGeom>
          <a:solidFill>
            <a:srgbClr val="C985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solidFill>
            <a:srgbClr val="12241B">
              <a:alpha val="75000"/>
            </a:srgbClr>
          </a:solidFill>
          <a:ln w="12700">
            <a:solidFill>
              <a:srgbClr val="12241B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715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0:57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 card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4107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centered, tagline beneath, app store badges in both corners.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 (quiet): “Wherever the signal ends — we begin.”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2D6A4F">
              <a:alpha val="32000"/>
            </a:srgbClr>
          </a:solidFill>
          <a:ln w="12700">
            <a:solidFill>
              <a:srgbClr val="2D6A4F">
                <a:alpha val="3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74C6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VOICEOVER SCRIPT (ENGLISH REFERENCE)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Eight lines. No jargon.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 of the best places in Bangladesh don't have signal.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8249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6642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we built one that doesn't need 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6654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482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pin on this map was placed by someone who stood exactly where you're standing.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43230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an algorithm. Not a sponsor. A stranger who came back and told the truth.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8163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don't need a connection to give something back.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2004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days later, forty-seven people needed exactly what you knew.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0273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58444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Bhromon. Built by explorers. Trusted by explorers.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867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96849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Wherever the signal ends — we begin.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8046720" cy="0"/>
          </a:xfrm>
          <a:prstGeom prst="line">
            <a:avLst/>
          </a:prstGeom>
          <a:noFill/>
          <a:ln w="6350">
            <a:solidFill>
              <a:srgbClr val="40916C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90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4C6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Bengali primary-language script (বাংলা) provided in companion document — to be finalized with native copywriter before recording.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CASTING &amp; LOCATIONS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 explorers, real places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CASTING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11096"/>
            <a:ext cx="91440" cy="91440"/>
          </a:xfrm>
          <a:prstGeom prst="ellipse">
            <a:avLst/>
          </a:prstGeom>
          <a:solidFill>
            <a:srgbClr val="C9852E"/>
          </a:solidFill>
          <a:ln w="12700">
            <a:solidFill>
              <a:srgbClr val="C985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Shefali (lead)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0574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20–24, real backpacker energy — not a polished “model” look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91440" cy="91440"/>
          </a:xfrm>
          <a:prstGeom prst="ellipse">
            <a:avLst/>
          </a:prstGeom>
          <a:solidFill>
            <a:srgbClr val="C9852E"/>
          </a:solidFill>
          <a:ln w="12700">
            <a:solidFill>
              <a:srgbClr val="C985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CNG driver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624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40s–50s, ideally a real local CHT driver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548640" y="3044952"/>
            <a:ext cx="91440" cy="91440"/>
          </a:xfrm>
          <a:prstGeom prst="ellipse">
            <a:avLst/>
          </a:prstGeom>
          <a:solidFill>
            <a:srgbClr val="C9852E"/>
          </a:solidFill>
          <a:ln w="12700">
            <a:solidFill>
              <a:srgbClr val="C985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Farmer (cutaway)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31912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50s, weathered hands — documentary feel, not staged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91440" cy="91440"/>
          </a:xfrm>
          <a:prstGeom prst="ellipse">
            <a:avLst/>
          </a:prstGeom>
          <a:solidFill>
            <a:srgbClr val="C9852E"/>
          </a:solidFill>
          <a:ln w="12700">
            <a:solidFill>
              <a:srgbClr val="C985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Fishing boy (cutaway)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7581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14–17, cast locally in Tanguar Haor / Sunamganj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75488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911096"/>
            <a:ext cx="91440" cy="914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Sajek Valley, CHT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20574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unit — Scenes 1–9. Requires CHT travel permit.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754880" y="2478024"/>
            <a:ext cx="91440" cy="914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Sundarbans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2624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B-roll: mangrove channel cutaway, golden hour only.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754880" y="3044952"/>
            <a:ext cx="91440" cy="914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Sylhet (Sreemangal)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31912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B-roll: tea garden rows at sunrise.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91440" cy="914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Cox's Bazar + Bandarban + Tanguar Haor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37581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B-roll: beach, suspension bridge, haor boat shot.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48640" y="4370832"/>
            <a:ext cx="8046720" cy="384048"/>
          </a:xfrm>
          <a:prstGeom prst="rect">
            <a:avLst/>
          </a:prstGeom>
          <a:solidFill>
            <a:srgbClr val="EAF1EA"/>
          </a:solidFill>
          <a:ln w="9525">
            <a:solidFill>
              <a:srgbClr val="74C69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3708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70" i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efficiency: Scenes 1–9 all shoot in Sajek over 2 days. Scene 10's four cutaways are 1 second each — stock footage is a viable budget option if seamlessly graded.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MUSIC &amp; SOUND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Calm under pressure, warm at the peak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C"/>
            </a:solidFill>
            <a:prstDash val="solid"/>
          </a:ln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64104"/>
            <a:ext cx="1188720" cy="124816"/>
          </a:xfrm>
          <a:prstGeom prst="rect">
            <a:avLst/>
          </a:prstGeom>
          <a:solidFill>
            <a:srgbClr val="C9852E">
              <a:alpha val="70000"/>
            </a:srgbClr>
          </a:solidFill>
          <a:ln w="12700">
            <a:solidFill>
              <a:srgbClr val="C9852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16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Sparse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22576" y="2497684"/>
            <a:ext cx="1188720" cy="291236"/>
          </a:xfrm>
          <a:prstGeom prst="rect">
            <a:avLst/>
          </a:prstGeom>
          <a:solidFill>
            <a:srgbClr val="C9852E">
              <a:alpha val="70000"/>
            </a:srgbClr>
          </a:solidFill>
          <a:ln w="12700">
            <a:solidFill>
              <a:srgbClr val="C9852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85416" y="2816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22192" y="2081632"/>
            <a:ext cx="1188720" cy="707288"/>
          </a:xfrm>
          <a:prstGeom prst="rect">
            <a:avLst/>
          </a:prstGeom>
          <a:solidFill>
            <a:srgbClr val="C9852E"/>
          </a:solidFill>
          <a:ln w="12700">
            <a:solidFill>
              <a:srgbClr val="C985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2816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swell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21808" y="2539289"/>
            <a:ext cx="1188720" cy="249631"/>
          </a:xfrm>
          <a:prstGeom prst="rect">
            <a:avLst/>
          </a:prstGeom>
          <a:solidFill>
            <a:srgbClr val="C9852E">
              <a:alpha val="70000"/>
            </a:srgbClr>
          </a:solidFill>
          <a:ln w="12700">
            <a:solidFill>
              <a:srgbClr val="C9852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4648" y="2816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Intimate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21424" y="1998421"/>
            <a:ext cx="1188720" cy="790499"/>
          </a:xfrm>
          <a:prstGeom prst="rect">
            <a:avLst/>
          </a:prstGeom>
          <a:solidFill>
            <a:srgbClr val="C9852E"/>
          </a:solidFill>
          <a:ln w="12700">
            <a:solidFill>
              <a:srgbClr val="C985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2816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Peak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1901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MUSIC INTENSITY ACROSS THE FILM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COMPOSER BRIEF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3A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Contemporary Bengali folk instrumentation (dotara, bansuri) over a minimal acoustic/ambient bed. Not traditional folk, not corporate uplift. Avoid epic trailer drums or any EDM drop.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SOUND DESIGN RULE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3520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3A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urgent beeping. No error stings. The absence of signal is never scored as a problem — the Publish chime and the notification sound share one calm three-note motif throughout.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CUT-DOWN VERSIONS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shoot, three deliverables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:60 — Broadcast / YouTube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237744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62656" y="2029968"/>
            <a:ext cx="1572768" cy="365760"/>
          </a:xfrm>
          <a:prstGeom prst="rect">
            <a:avLst/>
          </a:prstGeom>
          <a:solidFill>
            <a:srgbClr val="C9852E"/>
          </a:solidFill>
          <a:ln w="12700">
            <a:solidFill>
              <a:srgbClr val="C985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20299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0" y="2029968"/>
            <a:ext cx="2243328" cy="3657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29968"/>
            <a:ext cx="2243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Cutaways+Publish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851904" y="2029968"/>
            <a:ext cx="1706880" cy="365760"/>
          </a:xfrm>
          <a:prstGeom prst="rect">
            <a:avLst/>
          </a:prstGeom>
          <a:solidFill>
            <a:srgbClr val="B6562D"/>
          </a:solidFill>
          <a:ln w="12700">
            <a:solidFill>
              <a:srgbClr val="B65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1904" y="2029968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Montage+Logo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:30 — Digital / Social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2645664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98648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30880" y="2898648"/>
            <a:ext cx="1572768" cy="365760"/>
          </a:xfrm>
          <a:prstGeom prst="rect">
            <a:avLst/>
          </a:prstGeom>
          <a:solidFill>
            <a:srgbClr val="C9852E"/>
          </a:solidFill>
          <a:ln w="12700">
            <a:solidFill>
              <a:srgbClr val="C985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0880" y="28986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40224" y="2898648"/>
            <a:ext cx="1304544" cy="3657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0224" y="2898648"/>
            <a:ext cx="1304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Publish+Notif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81344" y="2898648"/>
            <a:ext cx="2377440" cy="365760"/>
          </a:xfrm>
          <a:prstGeom prst="rect">
            <a:avLst/>
          </a:prstGeom>
          <a:solidFill>
            <a:srgbClr val="B6562D"/>
          </a:solidFill>
          <a:ln w="12700">
            <a:solidFill>
              <a:srgbClr val="B65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Montage+Logo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4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:15 — Pre-roll / Bumper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67328"/>
            <a:ext cx="2645664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67328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30880" y="3767328"/>
            <a:ext cx="2109216" cy="365760"/>
          </a:xfrm>
          <a:prstGeom prst="rect">
            <a:avLst/>
          </a:prstGeom>
          <a:solidFill>
            <a:srgbClr val="C9852E"/>
          </a:solidFill>
          <a:ln w="12700">
            <a:solidFill>
              <a:srgbClr val="C985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0880" y="3767328"/>
            <a:ext cx="2109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76672" y="3767328"/>
            <a:ext cx="3182112" cy="365760"/>
          </a:xfrm>
          <a:prstGeom prst="rect">
            <a:avLst/>
          </a:prstGeom>
          <a:solidFill>
            <a:srgbClr val="B6562D"/>
          </a:solidFill>
          <a:ln w="12700">
            <a:solidFill>
              <a:srgbClr val="B65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672" y="376732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F7EEE0"/>
          </a:solidFill>
          <a:ln w="9525">
            <a:solidFill>
              <a:srgbClr val="C985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434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B656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three cuts reuse the same Sajek Valley footage — the :60 is the master edit; :30 and :15 are re-cuts, not separate shoots.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85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BUDGET GUIDANCE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41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Three tiers, one recommendation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solidFill>
            <a:srgbClr val="EAF1EA"/>
          </a:solidFill>
          <a:ln w="15875">
            <a:solidFill>
              <a:srgbClr val="74C69D"/>
            </a:solidFill>
            <a:prstDash val="solid"/>
          </a:ln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656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$8–15K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3A3A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 CHT unit (2 days) · 1 lead actor · local crew · licensed stock for cutaways · freelance composer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30" i="1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Pre-seed stage, social-first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269480" y="1618488"/>
            <a:ext cx="1234440" cy="237744"/>
          </a:xfrm>
          <a:prstGeom prst="rect">
            <a:avLst/>
          </a:prstGeom>
          <a:solidFill>
            <a:srgbClr val="C9852E"/>
          </a:solidFill>
          <a:ln w="12700">
            <a:solidFill>
              <a:srgbClr val="C985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6184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C"/>
            </a:solidFill>
            <a:prstDash val="solid"/>
          </a:ln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Standard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656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$20–35K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3A3A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CHT unit + 1 b-roll unit · original score · full color grade · Bengali VO talent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30" i="1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Seed-stage, broadcast-quality social + YouTube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80467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C"/>
            </a:solidFill>
            <a:prstDash val="solid"/>
          </a:ln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Broadcast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6562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$50K+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703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3A3A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locations shot original · drone aerials · live instrumentation score · multi-aspect-ratio TVC delivery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30" i="1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Post-Series A, TV/cinema placement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548640" y="46451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Given Bhromon's pre-seed stage, the Lean tier is recommended.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BHROMON — "WE HAVE THE MAP" · :60 TVC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5486400" cy="5486400"/>
          </a:xfrm>
          <a:prstGeom prst="ellipse">
            <a:avLst/>
          </a:prstGeom>
          <a:solidFill>
            <a:srgbClr val="2D6A4F">
              <a:alpha val="38000"/>
            </a:srgbClr>
          </a:solidFill>
          <a:ln w="12700">
            <a:solidFill>
              <a:srgbClr val="2D6A4F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377440"/>
            <a:ext cx="4572000" cy="45720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2606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BHROMON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85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ভ্রমণ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7F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“Wherever the signal ends — we begin.”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17520" y="425196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0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425196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Play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36676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14</a:t>
            </a:r>
            <a:endParaRPr lang="en-US" sz="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D91E3A-469D-FF1F-3317-670436FB2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914" y="981596"/>
            <a:ext cx="1734172" cy="17341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1487</Words>
  <Application>Microsoft Office PowerPoint</Application>
  <PresentationFormat>On-screen Show (16:9)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Lora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Bhromon TVC Storyboard — "We Have The Map"</dc:title>
  <dc:subject>PptxGenJS Presentation</dc:subject>
  <dc:creator>Bhromon</dc:creator>
  <cp:lastModifiedBy>Shohag Rana</cp:lastModifiedBy>
  <cp:revision>2</cp:revision>
  <dcterms:created xsi:type="dcterms:W3CDTF">2026-06-25T05:57:23Z</dcterms:created>
  <dcterms:modified xsi:type="dcterms:W3CDTF">2026-06-25T13:02:17Z</dcterms:modified>
</cp:coreProperties>
</file>